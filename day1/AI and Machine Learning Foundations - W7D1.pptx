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23"/>
  </p:notesMasterIdLst>
  <p:sldIdLst>
    <p:sldId id="300" r:id="rId5"/>
    <p:sldId id="329" r:id="rId6"/>
    <p:sldId id="346" r:id="rId7"/>
    <p:sldId id="333" r:id="rId8"/>
    <p:sldId id="335" r:id="rId9"/>
    <p:sldId id="343" r:id="rId10"/>
    <p:sldId id="347" r:id="rId11"/>
    <p:sldId id="305" r:id="rId12"/>
    <p:sldId id="325" r:id="rId13"/>
    <p:sldId id="317" r:id="rId14"/>
    <p:sldId id="319" r:id="rId15"/>
    <p:sldId id="320" r:id="rId16"/>
    <p:sldId id="321" r:id="rId17"/>
    <p:sldId id="322" r:id="rId18"/>
    <p:sldId id="323" r:id="rId19"/>
    <p:sldId id="324" r:id="rId20"/>
    <p:sldId id="326" r:id="rId21"/>
    <p:sldId id="32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4BA0"/>
    <a:srgbClr val="6A6EFF"/>
    <a:srgbClr val="23CB61"/>
    <a:srgbClr val="81FEE3"/>
    <a:srgbClr val="F97316"/>
    <a:srgbClr val="F05454"/>
    <a:srgbClr val="A855F7"/>
    <a:srgbClr val="15BFAC"/>
    <a:srgbClr val="EFBE26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14D215-EB46-224F-D566-D46ADB048828}" v="35" dt="2026-05-13T09:29:37.712"/>
    <p1510:client id="{A994E5B2-B9FC-007B-9255-63AFA1065399}" v="2" dt="2026-05-13T09:16:00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1" autoAdjust="0"/>
    <p:restoredTop sz="93443" autoAdjust="0"/>
  </p:normalViewPr>
  <p:slideViewPr>
    <p:cSldViewPr snapToGrid="0">
      <p:cViewPr varScale="1">
        <p:scale>
          <a:sx n="99" d="100"/>
          <a:sy n="99" d="100"/>
        </p:scale>
        <p:origin x="11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6A7CAD-60D0-40A3-808D-07AA634217A9}" type="datetimeFigureOut">
              <a:rPr lang="en-CA" smtClean="0"/>
              <a:t>2026-05-13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1F212-BDC6-45C1-9FBE-F0246194BF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1489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F212-BDC6-45C1-9FBE-F0246194BF93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5312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271C657-CF57-C004-9DF1-B6AC865AFBDD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F5DA25-9FDE-F72F-97E9-68451E6541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0319" t="18418" r="14821" b="18418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21190F-39F3-2E30-2EF7-09701C7C16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793012"/>
            <a:ext cx="7728226" cy="1909763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  <a:latin typeface="Titillium Web" pitchFamily="2" charset="77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8D7A1-46B1-409F-86E8-FAEA6D8C8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400" y="4800392"/>
            <a:ext cx="7728226" cy="116253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4"/>
                </a:solidFill>
                <a:latin typeface="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8090A03-D6F7-E3CC-CF6B-B70E8B8683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53" y="1119151"/>
            <a:ext cx="3496235" cy="102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4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624B6A4-7ACC-3D5B-A228-BE3591B4435B}"/>
              </a:ext>
            </a:extLst>
          </p:cNvPr>
          <p:cNvSpPr/>
          <p:nvPr userDrawn="1"/>
        </p:nvSpPr>
        <p:spPr>
          <a:xfrm>
            <a:off x="0" y="0"/>
            <a:ext cx="1219697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1190F-39F3-2E30-2EF7-09701C7C16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31887" y="1798086"/>
            <a:ext cx="7728226" cy="1909763"/>
          </a:xfrm>
        </p:spPr>
        <p:txBody>
          <a:bodyPr anchor="b"/>
          <a:lstStyle>
            <a:lvl1pPr algn="ctr">
              <a:defRPr sz="6000" b="1">
                <a:solidFill>
                  <a:schemeClr val="accent2"/>
                </a:solidFill>
                <a:latin typeface="Titillium Web" pitchFamily="2" charset="77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8D7A1-46B1-409F-86E8-FAEA6D8C8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1887" y="4051586"/>
            <a:ext cx="7728226" cy="116253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043C5A-7B82-949E-39D8-5AF5C6A6DB9E}"/>
              </a:ext>
            </a:extLst>
          </p:cNvPr>
          <p:cNvGrpSpPr/>
          <p:nvPr userDrawn="1"/>
        </p:nvGrpSpPr>
        <p:grpSpPr>
          <a:xfrm>
            <a:off x="-1" y="4989445"/>
            <a:ext cx="2102126" cy="1868555"/>
            <a:chOff x="-1" y="4989445"/>
            <a:chExt cx="2102126" cy="186855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FEFECF-1B85-EFC3-4644-24FFA080E5A4}"/>
                </a:ext>
              </a:extLst>
            </p:cNvPr>
            <p:cNvSpPr/>
            <p:nvPr userDrawn="1"/>
          </p:nvSpPr>
          <p:spPr>
            <a:xfrm>
              <a:off x="-1" y="5307496"/>
              <a:ext cx="1470991" cy="1550504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E3936A5-7589-7BA5-784E-D28BEA0DFC93}"/>
                </a:ext>
              </a:extLst>
            </p:cNvPr>
            <p:cNvSpPr/>
            <p:nvPr userDrawn="1"/>
          </p:nvSpPr>
          <p:spPr>
            <a:xfrm>
              <a:off x="631135" y="4989445"/>
              <a:ext cx="1470990" cy="1172816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shade val="30000"/>
                    <a:satMod val="115000"/>
                  </a:schemeClr>
                </a:gs>
                <a:gs pos="50000">
                  <a:schemeClr val="accent3">
                    <a:shade val="67500"/>
                    <a:satMod val="115000"/>
                  </a:schemeClr>
                </a:gs>
                <a:gs pos="100000">
                  <a:schemeClr val="accent3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B242F23-B6CF-ED7C-55FA-5D7A7691A14A}"/>
                </a:ext>
              </a:extLst>
            </p:cNvPr>
            <p:cNvSpPr/>
            <p:nvPr userDrawn="1"/>
          </p:nvSpPr>
          <p:spPr>
            <a:xfrm>
              <a:off x="990071" y="5778825"/>
              <a:ext cx="961838" cy="766871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50000">
                  <a:schemeClr val="accent4">
                    <a:lumMod val="75000"/>
                  </a:schemeClr>
                </a:gs>
                <a:gs pos="100000">
                  <a:schemeClr val="accent4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FA7C2F9-FFEE-7A51-7F66-F2B66B5A1FDB}"/>
              </a:ext>
            </a:extLst>
          </p:cNvPr>
          <p:cNvGrpSpPr/>
          <p:nvPr userDrawn="1"/>
        </p:nvGrpSpPr>
        <p:grpSpPr>
          <a:xfrm>
            <a:off x="10182640" y="0"/>
            <a:ext cx="2009360" cy="1833665"/>
            <a:chOff x="10182640" y="0"/>
            <a:chExt cx="2009360" cy="18336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52B5251-CCB5-2B16-076B-48545BC97131}"/>
                </a:ext>
              </a:extLst>
            </p:cNvPr>
            <p:cNvSpPr/>
            <p:nvPr userDrawn="1"/>
          </p:nvSpPr>
          <p:spPr>
            <a:xfrm rot="10800000">
              <a:off x="10721009" y="0"/>
              <a:ext cx="1470991" cy="1550504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F49FBF-250E-EFFE-7A66-E7837F7D6EB0}"/>
                </a:ext>
              </a:extLst>
            </p:cNvPr>
            <p:cNvSpPr/>
            <p:nvPr userDrawn="1"/>
          </p:nvSpPr>
          <p:spPr>
            <a:xfrm rot="10800000">
              <a:off x="10182640" y="660849"/>
              <a:ext cx="1470990" cy="1172816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shade val="30000"/>
                    <a:satMod val="115000"/>
                  </a:schemeClr>
                </a:gs>
                <a:gs pos="50000">
                  <a:schemeClr val="accent3">
                    <a:shade val="67500"/>
                    <a:satMod val="115000"/>
                  </a:schemeClr>
                </a:gs>
                <a:gs pos="100000">
                  <a:schemeClr val="accent3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2477BC-8A83-DB50-80B7-C15324E12B76}"/>
                </a:ext>
              </a:extLst>
            </p:cNvPr>
            <p:cNvSpPr/>
            <p:nvPr userDrawn="1"/>
          </p:nvSpPr>
          <p:spPr>
            <a:xfrm>
              <a:off x="11030541" y="902025"/>
              <a:ext cx="961838" cy="766871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50000">
                  <a:schemeClr val="accent4">
                    <a:lumMod val="75000"/>
                  </a:schemeClr>
                </a:gs>
                <a:gs pos="100000">
                  <a:schemeClr val="accent4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680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DABF-CA87-3118-F02B-6F228EFC7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956" y="601524"/>
            <a:ext cx="9713843" cy="855662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Titillium Web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F159F-0C82-2F87-4F94-75D1AC390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9713843" cy="4799290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"/>
              </a:defRPr>
            </a:lvl1pPr>
            <a:lvl2pPr>
              <a:defRPr>
                <a:solidFill>
                  <a:schemeClr val="accent1"/>
                </a:solidFill>
                <a:latin typeface=""/>
              </a:defRPr>
            </a:lvl2pPr>
            <a:lvl3pPr>
              <a:defRPr>
                <a:solidFill>
                  <a:schemeClr val="accent1"/>
                </a:solidFill>
                <a:latin typeface=""/>
              </a:defRPr>
            </a:lvl3pPr>
            <a:lvl4pPr>
              <a:defRPr>
                <a:solidFill>
                  <a:schemeClr val="accent1"/>
                </a:solidFill>
                <a:latin typeface=""/>
              </a:defRPr>
            </a:lvl4pPr>
            <a:lvl5pPr>
              <a:defRPr>
                <a:solidFill>
                  <a:schemeClr val="accent1"/>
                </a:solidFill>
                <a:latin typeface="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68A27B-88A6-5397-6C6F-919EEC6D4C50}"/>
              </a:ext>
            </a:extLst>
          </p:cNvPr>
          <p:cNvSpPr/>
          <p:nvPr userDrawn="1"/>
        </p:nvSpPr>
        <p:spPr>
          <a:xfrm>
            <a:off x="-1" y="0"/>
            <a:ext cx="1470991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tick mark in a circle&#10;&#10;AI-generated content may be incorrect.">
            <a:extLst>
              <a:ext uri="{FF2B5EF4-FFF2-40B4-BE49-F238E27FC236}">
                <a16:creationId xmlns:a16="http://schemas.microsoft.com/office/drawing/2014/main" id="{B6338D0F-4D68-82A4-C21A-779042FB0F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51" y="365125"/>
            <a:ext cx="903097" cy="8556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CE8458-597F-0B11-6E41-AAE1DC05EC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72470" t="15566" r="17601" b="14756"/>
          <a:stretch>
            <a:fillRect/>
          </a:stretch>
        </p:blipFill>
        <p:spPr>
          <a:xfrm>
            <a:off x="-1" y="0"/>
            <a:ext cx="1470990" cy="688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89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DABF-CA87-3118-F02B-6F228EFC7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956" y="601524"/>
            <a:ext cx="9713843" cy="855662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Titillium Web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F159F-0C82-2F87-4F94-75D1AC390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9713843" cy="4799290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"/>
              </a:defRPr>
            </a:lvl1pPr>
            <a:lvl2pPr>
              <a:defRPr>
                <a:solidFill>
                  <a:schemeClr val="accent1"/>
                </a:solidFill>
                <a:latin typeface=""/>
              </a:defRPr>
            </a:lvl2pPr>
            <a:lvl3pPr>
              <a:defRPr>
                <a:solidFill>
                  <a:schemeClr val="accent1"/>
                </a:solidFill>
                <a:latin typeface=""/>
              </a:defRPr>
            </a:lvl3pPr>
            <a:lvl4pPr>
              <a:defRPr>
                <a:solidFill>
                  <a:schemeClr val="accent1"/>
                </a:solidFill>
                <a:latin typeface=""/>
              </a:defRPr>
            </a:lvl4pPr>
            <a:lvl5pPr>
              <a:defRPr>
                <a:solidFill>
                  <a:schemeClr val="accent1"/>
                </a:solidFill>
                <a:latin typeface="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68A27B-88A6-5397-6C6F-919EEC6D4C50}"/>
              </a:ext>
            </a:extLst>
          </p:cNvPr>
          <p:cNvSpPr/>
          <p:nvPr userDrawn="1"/>
        </p:nvSpPr>
        <p:spPr>
          <a:xfrm>
            <a:off x="-1" y="0"/>
            <a:ext cx="1470991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tick mark in a circle&#10;&#10;AI-generated content may be incorrect.">
            <a:extLst>
              <a:ext uri="{FF2B5EF4-FFF2-40B4-BE49-F238E27FC236}">
                <a16:creationId xmlns:a16="http://schemas.microsoft.com/office/drawing/2014/main" id="{B6338D0F-4D68-82A4-C21A-779042FB0F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51" y="365125"/>
            <a:ext cx="903097" cy="8556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CDB993-303E-0675-E0D6-D226F31F81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lum bright="20000"/>
          </a:blip>
          <a:srcRect l="72470" t="15566" r="17601" b="14756"/>
          <a:stretch>
            <a:fillRect/>
          </a:stretch>
        </p:blipFill>
        <p:spPr>
          <a:xfrm>
            <a:off x="0" y="0"/>
            <a:ext cx="1470990" cy="688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4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DABF-CA87-3118-F02B-6F228EFC7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956" y="601524"/>
            <a:ext cx="9713843" cy="855662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Titillium Web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F159F-0C82-2F87-4F94-75D1AC390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9713843" cy="4799290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"/>
              </a:defRPr>
            </a:lvl1pPr>
            <a:lvl2pPr>
              <a:defRPr>
                <a:solidFill>
                  <a:schemeClr val="accent1"/>
                </a:solidFill>
                <a:latin typeface=""/>
              </a:defRPr>
            </a:lvl2pPr>
            <a:lvl3pPr>
              <a:defRPr>
                <a:solidFill>
                  <a:schemeClr val="accent1"/>
                </a:solidFill>
                <a:latin typeface=""/>
              </a:defRPr>
            </a:lvl3pPr>
            <a:lvl4pPr>
              <a:defRPr>
                <a:solidFill>
                  <a:schemeClr val="accent1"/>
                </a:solidFill>
                <a:latin typeface=""/>
              </a:defRPr>
            </a:lvl4pPr>
            <a:lvl5pPr>
              <a:defRPr>
                <a:solidFill>
                  <a:schemeClr val="accent1"/>
                </a:solidFill>
                <a:latin typeface="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68A27B-88A6-5397-6C6F-919EEC6D4C50}"/>
              </a:ext>
            </a:extLst>
          </p:cNvPr>
          <p:cNvSpPr/>
          <p:nvPr userDrawn="1"/>
        </p:nvSpPr>
        <p:spPr>
          <a:xfrm>
            <a:off x="-1" y="0"/>
            <a:ext cx="1470991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tick mark in a circle&#10;&#10;AI-generated content may be incorrect.">
            <a:extLst>
              <a:ext uri="{FF2B5EF4-FFF2-40B4-BE49-F238E27FC236}">
                <a16:creationId xmlns:a16="http://schemas.microsoft.com/office/drawing/2014/main" id="{B6338D0F-4D68-82A4-C21A-779042FB0F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51" y="365125"/>
            <a:ext cx="903097" cy="8556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F89BB3-DEB1-9FAC-C196-2D98BD3E43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lum bright="20000"/>
          </a:blip>
          <a:srcRect l="72470" t="15566" r="17601" b="14756"/>
          <a:stretch>
            <a:fillRect/>
          </a:stretch>
        </p:blipFill>
        <p:spPr>
          <a:xfrm>
            <a:off x="0" y="0"/>
            <a:ext cx="1470990" cy="688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31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DABF-CA87-3118-F02B-6F228EFC7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956" y="601524"/>
            <a:ext cx="9713843" cy="855662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Titillium Web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F159F-0C82-2F87-4F94-75D1AC390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9713843" cy="4799290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"/>
              </a:defRPr>
            </a:lvl1pPr>
            <a:lvl2pPr>
              <a:defRPr>
                <a:solidFill>
                  <a:schemeClr val="accent1"/>
                </a:solidFill>
                <a:latin typeface=""/>
              </a:defRPr>
            </a:lvl2pPr>
            <a:lvl3pPr>
              <a:defRPr>
                <a:solidFill>
                  <a:schemeClr val="accent1"/>
                </a:solidFill>
                <a:latin typeface=""/>
              </a:defRPr>
            </a:lvl3pPr>
            <a:lvl4pPr>
              <a:defRPr>
                <a:solidFill>
                  <a:schemeClr val="accent1"/>
                </a:solidFill>
                <a:latin typeface=""/>
              </a:defRPr>
            </a:lvl4pPr>
            <a:lvl5pPr>
              <a:defRPr>
                <a:solidFill>
                  <a:schemeClr val="accent1"/>
                </a:solidFill>
                <a:latin typeface="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68A27B-88A6-5397-6C6F-919EEC6D4C50}"/>
              </a:ext>
            </a:extLst>
          </p:cNvPr>
          <p:cNvSpPr/>
          <p:nvPr userDrawn="1"/>
        </p:nvSpPr>
        <p:spPr>
          <a:xfrm>
            <a:off x="-1" y="0"/>
            <a:ext cx="1470991" cy="6858000"/>
          </a:xfrm>
          <a:prstGeom prst="rect">
            <a:avLst/>
          </a:prstGeom>
          <a:gradFill flip="none" rotWithShape="1">
            <a:gsLst>
              <a:gs pos="11000">
                <a:schemeClr val="accent2"/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tick mark in a circle&#10;&#10;AI-generated content may be incorrect.">
            <a:extLst>
              <a:ext uri="{FF2B5EF4-FFF2-40B4-BE49-F238E27FC236}">
                <a16:creationId xmlns:a16="http://schemas.microsoft.com/office/drawing/2014/main" id="{B6338D0F-4D68-82A4-C21A-779042FB0F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51" y="365125"/>
            <a:ext cx="903097" cy="8556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A4FC5A-E437-BB66-389C-33CB007FEC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lum bright="20000"/>
          </a:blip>
          <a:srcRect l="72470" t="15566" r="17601" b="14756"/>
          <a:stretch>
            <a:fillRect/>
          </a:stretch>
        </p:blipFill>
        <p:spPr>
          <a:xfrm>
            <a:off x="0" y="0"/>
            <a:ext cx="1470990" cy="688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6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8BE9843-EC7D-BB64-51A0-A3CD1961AF94}"/>
              </a:ext>
            </a:extLst>
          </p:cNvPr>
          <p:cNvSpPr/>
          <p:nvPr userDrawn="1"/>
        </p:nvSpPr>
        <p:spPr>
          <a:xfrm rot="10800000">
            <a:off x="-3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5F80CF-174A-1ADC-ADB3-12EF060917F3}"/>
              </a:ext>
            </a:extLst>
          </p:cNvPr>
          <p:cNvSpPr/>
          <p:nvPr userDrawn="1"/>
        </p:nvSpPr>
        <p:spPr>
          <a:xfrm>
            <a:off x="6172199" y="1728312"/>
            <a:ext cx="5181599" cy="5129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801E7-F767-F675-17F7-7766CDEE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Titillium Web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D6261-2AE0-F703-FC30-4720EAE05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"/>
              </a:defRPr>
            </a:lvl1pPr>
            <a:lvl2pPr>
              <a:defRPr>
                <a:solidFill>
                  <a:schemeClr val="accent1"/>
                </a:solidFill>
                <a:latin typeface=""/>
              </a:defRPr>
            </a:lvl2pPr>
            <a:lvl3pPr>
              <a:defRPr>
                <a:solidFill>
                  <a:schemeClr val="accent1"/>
                </a:solidFill>
                <a:latin typeface=""/>
              </a:defRPr>
            </a:lvl3pPr>
            <a:lvl4pPr>
              <a:defRPr>
                <a:solidFill>
                  <a:schemeClr val="accent1"/>
                </a:solidFill>
                <a:latin typeface=""/>
              </a:defRPr>
            </a:lvl4pPr>
            <a:lvl5pPr>
              <a:defRPr>
                <a:solidFill>
                  <a:schemeClr val="accent1"/>
                </a:solidFill>
                <a:latin typeface="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7830A-9DEC-6D7C-3587-CDADEBFF3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3870" y="2186609"/>
            <a:ext cx="4638260" cy="3990354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"/>
              </a:defRPr>
            </a:lvl1pPr>
            <a:lvl2pPr>
              <a:defRPr>
                <a:solidFill>
                  <a:schemeClr val="bg1"/>
                </a:solidFill>
                <a:latin typeface=""/>
              </a:defRPr>
            </a:lvl2pPr>
            <a:lvl3pPr>
              <a:defRPr>
                <a:solidFill>
                  <a:schemeClr val="bg1"/>
                </a:solidFill>
                <a:latin typeface=""/>
              </a:defRPr>
            </a:lvl3pPr>
            <a:lvl4pPr>
              <a:defRPr>
                <a:solidFill>
                  <a:schemeClr val="bg1"/>
                </a:solidFill>
                <a:latin typeface=""/>
              </a:defRPr>
            </a:lvl4pPr>
            <a:lvl5pPr>
              <a:defRPr>
                <a:solidFill>
                  <a:schemeClr val="bg1"/>
                </a:solidFill>
                <a:latin typeface="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0E887291-6FFA-3EEE-8339-4ECFD9825B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397"/>
          <a:stretch>
            <a:fillRect/>
          </a:stretch>
        </p:blipFill>
        <p:spPr>
          <a:xfrm>
            <a:off x="10896598" y="214289"/>
            <a:ext cx="914400" cy="84774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4BCCE35-B25F-0669-B51A-FC8BEDDACFB8}"/>
              </a:ext>
            </a:extLst>
          </p:cNvPr>
          <p:cNvSpPr/>
          <p:nvPr userDrawn="1"/>
        </p:nvSpPr>
        <p:spPr>
          <a:xfrm>
            <a:off x="-1" y="6247750"/>
            <a:ext cx="12192001" cy="6478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2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6E668-A53F-2DF1-DD97-68AC4FE5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64299"/>
            <a:ext cx="10515600" cy="1112975"/>
          </a:xfrm>
        </p:spPr>
        <p:txBody>
          <a:bodyPr anchor="b"/>
          <a:lstStyle>
            <a:lvl1pPr>
              <a:defRPr sz="6000">
                <a:solidFill>
                  <a:schemeClr val="accent2"/>
                </a:solidFill>
                <a:latin typeface="Titillium Web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426C3-FA62-6C92-4E24-2C51D0986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777275"/>
            <a:ext cx="10515600" cy="431237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A blue tick mark in a circle&#10;&#10;AI-generated content may be incorrect.">
            <a:extLst>
              <a:ext uri="{FF2B5EF4-FFF2-40B4-BE49-F238E27FC236}">
                <a16:creationId xmlns:a16="http://schemas.microsoft.com/office/drawing/2014/main" id="{91205285-389D-6FB3-E2D7-B75FFB11A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51" y="365125"/>
            <a:ext cx="903097" cy="85566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8AF632D-8E94-F3EE-5D2D-DB799C237AF8}"/>
              </a:ext>
            </a:extLst>
          </p:cNvPr>
          <p:cNvGrpSpPr/>
          <p:nvPr userDrawn="1"/>
        </p:nvGrpSpPr>
        <p:grpSpPr>
          <a:xfrm flipH="1">
            <a:off x="10089874" y="4989445"/>
            <a:ext cx="2102126" cy="1868555"/>
            <a:chOff x="-1" y="4989445"/>
            <a:chExt cx="2102126" cy="18685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A49BE6-7498-808D-1B1C-4A32B3DCE117}"/>
                </a:ext>
              </a:extLst>
            </p:cNvPr>
            <p:cNvSpPr/>
            <p:nvPr userDrawn="1"/>
          </p:nvSpPr>
          <p:spPr>
            <a:xfrm>
              <a:off x="-1" y="5307496"/>
              <a:ext cx="1470991" cy="1550504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B9D4BC8-80D2-5AE2-2F4B-2B477B070983}"/>
                </a:ext>
              </a:extLst>
            </p:cNvPr>
            <p:cNvSpPr/>
            <p:nvPr userDrawn="1"/>
          </p:nvSpPr>
          <p:spPr>
            <a:xfrm>
              <a:off x="631135" y="4989445"/>
              <a:ext cx="1470990" cy="1172816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shade val="30000"/>
                    <a:satMod val="115000"/>
                  </a:schemeClr>
                </a:gs>
                <a:gs pos="50000">
                  <a:schemeClr val="accent3">
                    <a:shade val="67500"/>
                    <a:satMod val="115000"/>
                  </a:schemeClr>
                </a:gs>
                <a:gs pos="100000">
                  <a:schemeClr val="accent3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B6873AD-B858-958A-F1D4-A01289E79DD5}"/>
                </a:ext>
              </a:extLst>
            </p:cNvPr>
            <p:cNvSpPr/>
            <p:nvPr userDrawn="1"/>
          </p:nvSpPr>
          <p:spPr>
            <a:xfrm>
              <a:off x="990071" y="5778825"/>
              <a:ext cx="961838" cy="766871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50000">
                  <a:schemeClr val="accent4">
                    <a:lumMod val="75000"/>
                  </a:schemeClr>
                </a:gs>
                <a:gs pos="100000">
                  <a:schemeClr val="accent4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002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B48A70-314C-F04A-F79E-2E450F13BB52}"/>
              </a:ext>
            </a:extLst>
          </p:cNvPr>
          <p:cNvSpPr/>
          <p:nvPr userDrawn="1"/>
        </p:nvSpPr>
        <p:spPr>
          <a:xfrm rot="10800000">
            <a:off x="0" y="0"/>
            <a:ext cx="12192000" cy="68568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46DAD2-8486-7525-6D23-2226C2E4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18" y="884384"/>
            <a:ext cx="8815034" cy="663886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  <a:latin typeface="Titillium Web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B23FC-7323-8CC1-E67E-258D9CDE8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52936-D8C7-D5FF-FF8B-66B3819F4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"/>
              </a:defRPr>
            </a:lvl1pPr>
            <a:lvl2pPr>
              <a:defRPr>
                <a:solidFill>
                  <a:schemeClr val="accent1"/>
                </a:solidFill>
                <a:latin typeface=""/>
              </a:defRPr>
            </a:lvl2pPr>
            <a:lvl3pPr>
              <a:defRPr>
                <a:solidFill>
                  <a:schemeClr val="accent1"/>
                </a:solidFill>
                <a:latin typeface=""/>
              </a:defRPr>
            </a:lvl3pPr>
            <a:lvl4pPr>
              <a:defRPr>
                <a:solidFill>
                  <a:schemeClr val="accent1"/>
                </a:solidFill>
                <a:latin typeface=""/>
              </a:defRPr>
            </a:lvl4pPr>
            <a:lvl5pPr>
              <a:defRPr>
                <a:solidFill>
                  <a:schemeClr val="accent1"/>
                </a:solidFill>
                <a:latin typeface="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4ECA9-54A9-1AB3-A714-3463FA213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F0C86-80E6-F80A-FAC3-C883A20B9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"/>
              </a:defRPr>
            </a:lvl1pPr>
            <a:lvl2pPr>
              <a:defRPr>
                <a:solidFill>
                  <a:schemeClr val="accent1"/>
                </a:solidFill>
                <a:latin typeface=""/>
              </a:defRPr>
            </a:lvl2pPr>
            <a:lvl3pPr>
              <a:defRPr>
                <a:solidFill>
                  <a:schemeClr val="accent1"/>
                </a:solidFill>
                <a:latin typeface=""/>
              </a:defRPr>
            </a:lvl3pPr>
            <a:lvl4pPr>
              <a:defRPr>
                <a:solidFill>
                  <a:schemeClr val="accent1"/>
                </a:solidFill>
                <a:latin typeface=""/>
              </a:defRPr>
            </a:lvl4pPr>
            <a:lvl5pPr>
              <a:defRPr>
                <a:solidFill>
                  <a:schemeClr val="accent1"/>
                </a:solidFill>
                <a:latin typeface="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65A9008F-9F78-7BCA-CB0F-DC412582F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397"/>
          <a:stretch>
            <a:fillRect/>
          </a:stretch>
        </p:blipFill>
        <p:spPr>
          <a:xfrm>
            <a:off x="104932" y="182398"/>
            <a:ext cx="896916" cy="83153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B52D5D0-EDF7-09D7-0006-991C1B741B2E}"/>
              </a:ext>
            </a:extLst>
          </p:cNvPr>
          <p:cNvGrpSpPr/>
          <p:nvPr userDrawn="1"/>
        </p:nvGrpSpPr>
        <p:grpSpPr>
          <a:xfrm flipH="1">
            <a:off x="10111408" y="4989445"/>
            <a:ext cx="2102126" cy="1868555"/>
            <a:chOff x="-1" y="4989445"/>
            <a:chExt cx="2102126" cy="186855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B33E98-316D-B639-7F9E-BF7EE659325C}"/>
                </a:ext>
              </a:extLst>
            </p:cNvPr>
            <p:cNvSpPr/>
            <p:nvPr userDrawn="1"/>
          </p:nvSpPr>
          <p:spPr>
            <a:xfrm>
              <a:off x="-1" y="5307496"/>
              <a:ext cx="1470991" cy="1550504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883ADC6-B794-11FB-A25B-9F299DC19D33}"/>
                </a:ext>
              </a:extLst>
            </p:cNvPr>
            <p:cNvSpPr/>
            <p:nvPr userDrawn="1"/>
          </p:nvSpPr>
          <p:spPr>
            <a:xfrm>
              <a:off x="631135" y="4989445"/>
              <a:ext cx="1470990" cy="1172816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shade val="30000"/>
                    <a:satMod val="115000"/>
                  </a:schemeClr>
                </a:gs>
                <a:gs pos="50000">
                  <a:schemeClr val="accent3">
                    <a:shade val="67500"/>
                    <a:satMod val="115000"/>
                  </a:schemeClr>
                </a:gs>
                <a:gs pos="100000">
                  <a:schemeClr val="accent3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77E8722-4D5E-C4B3-CCE6-6EE8486462EA}"/>
                </a:ext>
              </a:extLst>
            </p:cNvPr>
            <p:cNvSpPr/>
            <p:nvPr userDrawn="1"/>
          </p:nvSpPr>
          <p:spPr>
            <a:xfrm>
              <a:off x="990071" y="5778825"/>
              <a:ext cx="961838" cy="766871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50000">
                  <a:schemeClr val="accent4">
                    <a:lumMod val="75000"/>
                  </a:schemeClr>
                </a:gs>
                <a:gs pos="100000">
                  <a:schemeClr val="accent4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C489FB-6D8C-5B4E-D6FB-A9180B9E78AD}"/>
              </a:ext>
            </a:extLst>
          </p:cNvPr>
          <p:cNvGrpSpPr/>
          <p:nvPr userDrawn="1"/>
        </p:nvGrpSpPr>
        <p:grpSpPr>
          <a:xfrm flipH="1">
            <a:off x="0" y="-1104"/>
            <a:ext cx="2009360" cy="1833665"/>
            <a:chOff x="10182640" y="0"/>
            <a:chExt cx="2009360" cy="183366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652D25F-CA26-D2D6-3E5A-F2C5BC90E1C9}"/>
                </a:ext>
              </a:extLst>
            </p:cNvPr>
            <p:cNvSpPr/>
            <p:nvPr userDrawn="1"/>
          </p:nvSpPr>
          <p:spPr>
            <a:xfrm rot="10800000">
              <a:off x="10721009" y="0"/>
              <a:ext cx="1470991" cy="1550504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3A698A8-F016-9732-5994-9975A58E83C0}"/>
                </a:ext>
              </a:extLst>
            </p:cNvPr>
            <p:cNvSpPr/>
            <p:nvPr userDrawn="1"/>
          </p:nvSpPr>
          <p:spPr>
            <a:xfrm rot="10800000">
              <a:off x="10182640" y="660849"/>
              <a:ext cx="1470990" cy="1172816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shade val="30000"/>
                    <a:satMod val="115000"/>
                  </a:schemeClr>
                </a:gs>
                <a:gs pos="50000">
                  <a:schemeClr val="accent3">
                    <a:shade val="67500"/>
                    <a:satMod val="115000"/>
                  </a:schemeClr>
                </a:gs>
                <a:gs pos="100000">
                  <a:schemeClr val="accent3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543CE2E-E8D2-EAA3-420C-3F8EE10B194F}"/>
                </a:ext>
              </a:extLst>
            </p:cNvPr>
            <p:cNvSpPr/>
            <p:nvPr userDrawn="1"/>
          </p:nvSpPr>
          <p:spPr>
            <a:xfrm>
              <a:off x="11030541" y="902025"/>
              <a:ext cx="961838" cy="766871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50000">
                  <a:schemeClr val="accent4">
                    <a:lumMod val="75000"/>
                  </a:schemeClr>
                </a:gs>
                <a:gs pos="100000">
                  <a:schemeClr val="accent4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3" name="Picture 22" descr="A blue tick mark in a circle&#10;&#10;AI-generated content may be incorrect.">
            <a:extLst>
              <a:ext uri="{FF2B5EF4-FFF2-40B4-BE49-F238E27FC236}">
                <a16:creationId xmlns:a16="http://schemas.microsoft.com/office/drawing/2014/main" id="{50CCADDF-DB83-18AB-4821-D6A9BFF88C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51" y="365125"/>
            <a:ext cx="903097" cy="85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3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FC1621-E06B-7421-CB6B-DB2C84FDB7BC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4BDCEB-9826-6E00-3362-7801631B3C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0319" t="18418" r="14821" b="18418"/>
          <a:stretch>
            <a:fillRect/>
          </a:stretch>
        </p:blipFill>
        <p:spPr>
          <a:xfrm>
            <a:off x="-3" y="-1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8B624E-54BA-CC0E-992C-4D3DB6831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925" y="2714069"/>
            <a:ext cx="6410235" cy="1998821"/>
          </a:xfrm>
        </p:spPr>
        <p:txBody>
          <a:bodyPr>
            <a:noAutofit/>
          </a:bodyPr>
          <a:lstStyle>
            <a:lvl1pPr>
              <a:defRPr sz="6600">
                <a:solidFill>
                  <a:schemeClr val="bg1"/>
                </a:solidFill>
                <a:latin typeface="Titillium Web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B2D379D-D768-BD07-9512-82F3503873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397"/>
          <a:stretch>
            <a:fillRect/>
          </a:stretch>
        </p:blipFill>
        <p:spPr>
          <a:xfrm>
            <a:off x="699247" y="1056727"/>
            <a:ext cx="1223319" cy="113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22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1B099-DE6F-4531-743D-82C1F30D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93F5-0578-ED44-8673-B2B6BAC151F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6CDB0-5BDE-E436-CAA4-264D7753A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AD010-CDA6-0C72-FD56-FE027D240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0306-1FD2-0146-8C5E-73675EB56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66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EDEB-0D72-FB63-A42F-6EE0B24F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AD104-13EA-D1DE-4A13-A32071A17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5C422-7A78-FA13-30C9-FC157325C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FFD63-4C6E-6E85-5A34-6F545A4F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93F5-0578-ED44-8673-B2B6BAC151F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D8CC5-7BAD-7AAC-CDD7-479A748D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E3DE4-F7EB-C6BA-D0AA-FDF8A2DE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0306-1FD2-0146-8C5E-73675EB56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60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0AF3-680F-BC0B-B946-F4621CFE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E25F1-78AE-4D74-C5AD-2D7F37D43A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5CBBF-F18D-0473-CEDC-F76F41D91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8CFC4-7A2B-7F9F-EB7F-22E88E18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93F5-0578-ED44-8673-B2B6BAC151F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0A3B7-95A3-0683-0D75-3B147919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9FC74-2BCE-78FA-A032-232F5CA4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0306-1FD2-0146-8C5E-73675EB56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36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A859-9786-AE85-2466-8E7BE665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7A280-69E8-B7C8-1900-1E2697325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27DD4-2453-AA2C-E1EA-8CBCF90B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93F5-0578-ED44-8673-B2B6BAC151F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88D8B-C340-AD2F-2C5B-9E8839AFA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7ED25-CFD0-E88C-3E13-F21A4DBE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0306-1FD2-0146-8C5E-73675EB56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0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C19BC2-3EC1-6AA8-A6CF-043844155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4B269-9F64-4580-93E6-758A5FBBF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73CCC-270D-21E1-EE02-7DD73126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93F5-0578-ED44-8673-B2B6BAC151F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D6702-9009-19D2-DBA6-5338AAC9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FB54F-315C-82DB-7C8A-DA7D8417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50306-1FD2-0146-8C5E-73675EB56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26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0F852-3BC1-A7FD-1848-7ECBCEFAD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13A1D-CB9B-40C2-0BCA-F58A58C06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2D91A-F64D-6F98-9A97-5F0AED332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793F5-0578-ED44-8673-B2B6BAC151F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13909-98CF-53A5-DCCD-585093DD1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D0BF1-A1F6-F47C-5EF1-4A861D65F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50306-1FD2-0146-8C5E-73675EB56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9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7" r:id="rId2"/>
    <p:sldLayoutId id="2147483677" r:id="rId3"/>
    <p:sldLayoutId id="2147483688" r:id="rId4"/>
    <p:sldLayoutId id="2147483689" r:id="rId5"/>
    <p:sldLayoutId id="2147483690" r:id="rId6"/>
    <p:sldLayoutId id="2147483679" r:id="rId7"/>
    <p:sldLayoutId id="2147483678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4069-58AE-70A7-2F53-FD956C398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and Machine Learning Foundations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0506DF-5218-93C0-0BE8-D6BDC3299547}"/>
              </a:ext>
            </a:extLst>
          </p:cNvPr>
          <p:cNvGrpSpPr/>
          <p:nvPr/>
        </p:nvGrpSpPr>
        <p:grpSpPr>
          <a:xfrm>
            <a:off x="660400" y="4702775"/>
            <a:ext cx="5580087" cy="762000"/>
            <a:chOff x="660400" y="4702775"/>
            <a:chExt cx="5580087" cy="762000"/>
          </a:xfrm>
        </p:grpSpPr>
        <p:pic>
          <p:nvPicPr>
            <p:cNvPr id="6" name="Image 21" descr="preencoded.png">
              <a:extLst>
                <a:ext uri="{FF2B5EF4-FFF2-40B4-BE49-F238E27FC236}">
                  <a16:creationId xmlns:a16="http://schemas.microsoft.com/office/drawing/2014/main" id="{13C4DDE4-7B2E-95A8-8CB8-D05788911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43975" y="4702775"/>
              <a:ext cx="304800" cy="381000"/>
            </a:xfrm>
            <a:prstGeom prst="rect">
              <a:avLst/>
            </a:prstGeom>
          </p:spPr>
        </p:pic>
        <p:pic>
          <p:nvPicPr>
            <p:cNvPr id="7" name="Image 22" descr="preencoded.png">
              <a:extLst>
                <a:ext uri="{FF2B5EF4-FFF2-40B4-BE49-F238E27FC236}">
                  <a16:creationId xmlns:a16="http://schemas.microsoft.com/office/drawing/2014/main" id="{CEF1DBAE-8C03-83DC-82B6-C75C4615E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489096" y="4702775"/>
              <a:ext cx="342900" cy="381000"/>
            </a:xfrm>
            <a:prstGeom prst="rect">
              <a:avLst/>
            </a:prstGeom>
          </p:spPr>
        </p:pic>
        <p:pic>
          <p:nvPicPr>
            <p:cNvPr id="8" name="Image 23" descr="preencoded.png">
              <a:extLst>
                <a:ext uri="{FF2B5EF4-FFF2-40B4-BE49-F238E27FC236}">
                  <a16:creationId xmlns:a16="http://schemas.microsoft.com/office/drawing/2014/main" id="{F8B560B3-C54F-73C8-678D-A62B8C756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678084" y="4702775"/>
              <a:ext cx="428625" cy="381000"/>
            </a:xfrm>
            <a:prstGeom prst="rect">
              <a:avLst/>
            </a:prstGeom>
          </p:spPr>
        </p:pic>
        <p:pic>
          <p:nvPicPr>
            <p:cNvPr id="9" name="Image 24" descr="preencoded.png">
              <a:extLst>
                <a:ext uri="{FF2B5EF4-FFF2-40B4-BE49-F238E27FC236}">
                  <a16:creationId xmlns:a16="http://schemas.microsoft.com/office/drawing/2014/main" id="{45CB894E-29F2-D813-5123-98ECBA9D5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090463" y="4702775"/>
              <a:ext cx="304800" cy="381000"/>
            </a:xfrm>
            <a:prstGeom prst="rect">
              <a:avLst/>
            </a:prstGeom>
          </p:spPr>
        </p:pic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9D5AAB08-CB06-7138-B576-F18F3180DB3D}"/>
                </a:ext>
              </a:extLst>
            </p:cNvPr>
            <p:cNvSpPr/>
            <p:nvPr/>
          </p:nvSpPr>
          <p:spPr>
            <a:xfrm>
              <a:off x="660400" y="5198075"/>
              <a:ext cx="1072098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dirty="0">
                  <a:solidFill>
                    <a:schemeClr val="bg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ETL vs ELT</a:t>
              </a:r>
              <a:endPara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1A127C20-58D6-1D80-A2F3-90DC3A92F21B}"/>
                </a:ext>
              </a:extLst>
            </p:cNvPr>
            <p:cNvSpPr/>
            <p:nvPr/>
          </p:nvSpPr>
          <p:spPr>
            <a:xfrm>
              <a:off x="1805424" y="5198075"/>
              <a:ext cx="1710392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dirty="0">
                  <a:solidFill>
                    <a:schemeClr val="bg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Neural Networks</a:t>
              </a:r>
              <a:endPara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25F2A629-61F5-063C-2D56-8DE76834DF92}"/>
                </a:ext>
              </a:extLst>
            </p:cNvPr>
            <p:cNvSpPr/>
            <p:nvPr/>
          </p:nvSpPr>
          <p:spPr>
            <a:xfrm>
              <a:off x="3635221" y="5198075"/>
              <a:ext cx="51435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dirty="0">
                  <a:solidFill>
                    <a:schemeClr val="bg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NLP</a:t>
              </a:r>
              <a:endPara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12905D31-30E5-9B8C-B93B-7529E0A16D41}"/>
                </a:ext>
              </a:extLst>
            </p:cNvPr>
            <p:cNvSpPr/>
            <p:nvPr/>
          </p:nvSpPr>
          <p:spPr>
            <a:xfrm>
              <a:off x="4245238" y="5198075"/>
              <a:ext cx="1995249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dirty="0">
                  <a:solidFill>
                    <a:schemeClr val="bg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Vector Embeddings</a:t>
              </a:r>
              <a:endPara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3256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8616-3C9D-2232-12F6-9968278B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166C-ADE5-1D4A-85E2-BD54C2DA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Python's Role in 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6BE80-E220-BAFF-932F-C30C1B5BE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4957010" cy="280680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Why Python for AI?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Readable syntax &amp; fast iteration speed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Massive ML ecosystem: TensorFlow, PyTorch, scikit-learn, Hugging Face, LangChain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Most AI research published with Python code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Real-World Examples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Google DeepMind &amp; OpenAI GPT: Python for training, data pipelines &amp; inference APIs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JP Morgan fraud detection: feature engineering, model training &amp; REST API — all Python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F52DC1-E7E6-1BED-4A5D-28081A520FB1}"/>
              </a:ext>
            </a:extLst>
          </p:cNvPr>
          <p:cNvSpPr txBox="1">
            <a:spLocks/>
          </p:cNvSpPr>
          <p:nvPr/>
        </p:nvSpPr>
        <p:spPr>
          <a:xfrm>
            <a:off x="7055318" y="1457186"/>
            <a:ext cx="4957010" cy="280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Python AI Stack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scikit-learn </a:t>
            </a:r>
            <a:r>
              <a:rPr lang="en-US" sz="1600" dirty="0">
                <a:latin typeface="Arial" pitchFamily="34" charset="0"/>
              </a:rPr>
              <a:t>— Classical ML algorithms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PyTorch / TensorFlow </a:t>
            </a:r>
            <a:r>
              <a:rPr lang="en-US" sz="1600" dirty="0">
                <a:latin typeface="Arial" pitchFamily="34" charset="0"/>
              </a:rPr>
              <a:t>— Deep learning frameworks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Hugging Face </a:t>
            </a:r>
            <a:r>
              <a:rPr lang="en-US" sz="1600" dirty="0">
                <a:latin typeface="Arial" pitchFamily="34" charset="0"/>
              </a:rPr>
              <a:t>— Pre-trained LLMs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LangChain </a:t>
            </a:r>
            <a:r>
              <a:rPr lang="en-US" sz="1600" dirty="0">
                <a:latin typeface="Arial" pitchFamily="34" charset="0"/>
              </a:rPr>
              <a:t>— LLM application framework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FastAPI </a:t>
            </a:r>
            <a:r>
              <a:rPr lang="en-US" sz="1600" dirty="0">
                <a:latin typeface="Arial" pitchFamily="34" charset="0"/>
              </a:rPr>
              <a:t>— ML model serving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Entry Point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run_all.py — runs the full Day 1 pipeline end to end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Project folder: day1-ai-foundations/</a:t>
            </a:r>
          </a:p>
        </p:txBody>
      </p:sp>
    </p:spTree>
    <p:extLst>
      <p:ext uri="{BB962C8B-B14F-4D97-AF65-F5344CB8AC3E}">
        <p14:creationId xmlns:p14="http://schemas.microsoft.com/office/powerpoint/2010/main" val="3440280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8616-3C9D-2232-12F6-9968278B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166C-ADE5-1D4A-85E2-BD54C2DA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to Python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6BE80-E220-BAFF-932F-C30C1B5BE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4957010" cy="280680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Dynamic vs Static Types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Java: statically typed — types checked at compile time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Python: dynamically typed — types checked at runtime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Type hints (x: int = 5) are optional — Pydantic enforces them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OOP — Python Classes vs Java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def __init__(self) instead of a constructor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No public/private — underscore _foo = "treat as private"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Django, LangChain, scikit-learn — all built on Python OOP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F52DC1-E7E6-1BED-4A5D-28081A520FB1}"/>
              </a:ext>
            </a:extLst>
          </p:cNvPr>
          <p:cNvSpPr txBox="1">
            <a:spLocks/>
          </p:cNvSpPr>
          <p:nvPr/>
        </p:nvSpPr>
        <p:spPr>
          <a:xfrm>
            <a:off x="7055318" y="1457186"/>
            <a:ext cx="4957010" cy="280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Exceptions in Python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try/except/finally (not try/catch/finally like Java)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Unchecked — no "throws" declaration on methods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Pydantic raises ValidationError automatically — FastAPI returns 422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Key Comparisons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Java: </a:t>
            </a:r>
            <a:r>
              <a:rPr lang="en-US" sz="1600" dirty="0">
                <a:latin typeface="Arial" pitchFamily="34" charset="0"/>
              </a:rPr>
              <a:t>public double predict(List&lt;Double&gt; features)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Python: </a:t>
            </a:r>
            <a:r>
              <a:rPr lang="en-US" sz="1600" dirty="0">
                <a:latin typeface="Arial" pitchFamily="34" charset="0"/>
              </a:rPr>
              <a:t>def predict(features: list[float]) -&gt; float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Java: </a:t>
            </a:r>
            <a:r>
              <a:rPr lang="en-US" sz="1600" dirty="0">
                <a:latin typeface="Arial" pitchFamily="34" charset="0"/>
              </a:rPr>
              <a:t>@Service public class ModelService { }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Python: </a:t>
            </a:r>
            <a:r>
              <a:rPr lang="en-US" sz="1600" dirty="0">
                <a:latin typeface="Arial" pitchFamily="34" charset="0"/>
              </a:rPr>
              <a:t>class ModelService: — no annotation needed</a:t>
            </a:r>
          </a:p>
        </p:txBody>
      </p:sp>
    </p:spTree>
    <p:extLst>
      <p:ext uri="{BB962C8B-B14F-4D97-AF65-F5344CB8AC3E}">
        <p14:creationId xmlns:p14="http://schemas.microsoft.com/office/powerpoint/2010/main" val="48809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8616-3C9D-2232-12F6-9968278B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166C-ADE5-1D4A-85E2-BD54C2DA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Dataclasses for Plain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6BE80-E220-BAFF-932F-C30C1B5BE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4957010" cy="280680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@dataclass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Auto-generates __init__, __repr__, __eq__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Equivalent to Java Lombok @Data or Java 16+ records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5 lines instead of 20 lines of boilerplate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@dataclass(frozen=True)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Immutable after creation — like Java record or Lombok @Value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Use for value objects: GPS coords, currency pairs, ML hyperparameters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field(default_factory=list)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Never use enrolled: list = [] — shared across all instances!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field(default_factory=list) creates a new list per instance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F52DC1-E7E6-1BED-4A5D-28081A520FB1}"/>
              </a:ext>
            </a:extLst>
          </p:cNvPr>
          <p:cNvSpPr txBox="1">
            <a:spLocks/>
          </p:cNvSpPr>
          <p:nvPr/>
        </p:nvSpPr>
        <p:spPr>
          <a:xfrm>
            <a:off x="7055318" y="1457186"/>
            <a:ext cx="4957010" cy="280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5 Dataclass Examples (models.py)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Student </a:t>
            </a:r>
            <a:r>
              <a:rPr lang="en-US" sz="1600" dirty="0">
                <a:latin typeface="Arial" pitchFamily="34" charset="0"/>
              </a:rPr>
              <a:t>— basic mutable dataclass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Coordinate </a:t>
            </a:r>
            <a:r>
              <a:rPr lang="en-US" sz="1600" dirty="0">
                <a:latin typeface="Arial" pitchFamily="34" charset="0"/>
              </a:rPr>
              <a:t>— frozen=True (immutable)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Course </a:t>
            </a:r>
            <a:r>
              <a:rPr lang="en-US" sz="1600" dirty="0">
                <a:latin typeface="Arial" pitchFamily="34" charset="0"/>
              </a:rPr>
              <a:t>— default_factory for list fields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MLExperiment </a:t>
            </a:r>
            <a:r>
              <a:rPr lang="en-US" sz="1600" dirty="0">
                <a:latin typeface="Arial" pitchFamily="34" charset="0"/>
              </a:rPr>
              <a:t>— __post_init__ for validation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DataPoint/Dataset </a:t>
            </a:r>
            <a:r>
              <a:rPr lang="en-US" sz="1600" dirty="0">
                <a:latin typeface="Arial" pitchFamily="34" charset="0"/>
              </a:rPr>
              <a:t>— nested dataclasses (composition)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Real-World Usage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Apache Airflow uses dataclasses for DAG task metadata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Databricks ML pipelines use dataclasses for experiment runs</a:t>
            </a:r>
          </a:p>
        </p:txBody>
      </p:sp>
    </p:spTree>
    <p:extLst>
      <p:ext uri="{BB962C8B-B14F-4D97-AF65-F5344CB8AC3E}">
        <p14:creationId xmlns:p14="http://schemas.microsoft.com/office/powerpoint/2010/main" val="2966919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8616-3C9D-2232-12F6-9968278B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166C-ADE5-1D4A-85E2-BD54C2DA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Hints as a Design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6BE80-E220-BAFF-932F-C30C1B5BE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4957010" cy="280680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What Are Type Hints?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PEP 484: annotate variables, function params &amp; return types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Python does NOT enforce them at runtime — they are documentation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Tools that check them: mypy, Pylance, Pydantic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Key Type Annotations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int, str, float, bool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list[str], dict[str, int], tuple[int, ...]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Optional[float] — can be None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str | float — Union syntax (Python 3.10+)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F52DC1-E7E6-1BED-4A5D-28081A520FB1}"/>
              </a:ext>
            </a:extLst>
          </p:cNvPr>
          <p:cNvSpPr txBox="1">
            <a:spLocks/>
          </p:cNvSpPr>
          <p:nvPr/>
        </p:nvSpPr>
        <p:spPr>
          <a:xfrm>
            <a:off x="7055318" y="1457186"/>
            <a:ext cx="4957010" cy="280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Real-World Impact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Netflix: </a:t>
            </a:r>
            <a:r>
              <a:rPr lang="en-US" sz="1600" dirty="0">
                <a:latin typeface="Arial" pitchFamily="34" charset="0"/>
              </a:rPr>
              <a:t>def get_recommendations(user_id: int, limit: int = 10) -&gt; list[str]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FastAPI: </a:t>
            </a:r>
            <a:r>
              <a:rPr lang="en-US" sz="1600" dirty="0">
                <a:latin typeface="Arial" pitchFamily="34" charset="0"/>
              </a:rPr>
              <a:t>type hints on params ARE the API schema — auto-generates OpenAPI docs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Code Reference (models.py)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str | float in PredictionResponse.prediction — Union syntax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list[str] = field(default_factory=list) — generics in dataclass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Optional[float] in ModelMetrics — nullable fields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Key Rule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Type hints = documentation for humans &amp; tools; Pydantic = enforcement at runtime</a:t>
            </a:r>
          </a:p>
        </p:txBody>
      </p:sp>
    </p:spTree>
    <p:extLst>
      <p:ext uri="{BB962C8B-B14F-4D97-AF65-F5344CB8AC3E}">
        <p14:creationId xmlns:p14="http://schemas.microsoft.com/office/powerpoint/2010/main" val="113730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8616-3C9D-2232-12F6-9968278B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166C-ADE5-1D4A-85E2-BD54C2DA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Pydantic v2: Structured Data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6BE80-E220-BAFF-932F-C30C1B5BE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4957010" cy="280680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BaseModel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Reads type hints and ACTUALLY enforces them at runtime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Coerces where possible ("42" → 42); raises ValidationError if it cannot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FastAPI: validates every request body; returns 422 automatically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@field_validator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Custom validation on a single field after type coercion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e.g., validate algorithm name against an allowed whitelist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@model_validator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Cross-field validation: runs after ALL fields are populated (e.g., date range checks)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F52DC1-E7E6-1BED-4A5D-28081A520FB1}"/>
              </a:ext>
            </a:extLst>
          </p:cNvPr>
          <p:cNvSpPr txBox="1">
            <a:spLocks/>
          </p:cNvSpPr>
          <p:nvPr/>
        </p:nvSpPr>
        <p:spPr>
          <a:xfrm>
            <a:off x="7055318" y="1457186"/>
            <a:ext cx="4957010" cy="280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Pydantic Settings (BaseSettings)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Reads config from environment variables automatically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12-factor app config: different values in dev/staging/prod without code changes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export APP_LOG_LEVEL=DEBUG — AppSettings reads it with env_prefix="APP_"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Pydantic Models in models.py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TrainingRequest </a:t>
            </a:r>
            <a:r>
              <a:rPr lang="en-US" sz="1600" dirty="0">
                <a:latin typeface="Arial" pitchFamily="34" charset="0"/>
              </a:rPr>
              <a:t>— validates model_name, algorithm, Field(ge=0.1, le=0.5)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ModelMetrics </a:t>
            </a:r>
            <a:r>
              <a:rPr lang="en-US" sz="1600" dirty="0">
                <a:latin typeface="Arial" pitchFamily="34" charset="0"/>
              </a:rPr>
              <a:t>— optional float fields with bounds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b="1" dirty="0">
                <a:latin typeface="Arial" pitchFamily="34" charset="0"/>
              </a:rPr>
              <a:t>DatasetStats </a:t>
            </a:r>
            <a:r>
              <a:rPr lang="en-US" sz="1600" dirty="0">
                <a:latin typeface="Arial" pitchFamily="34" charset="0"/>
              </a:rPr>
              <a:t>— @model_validator for cross-field distribution check</a:t>
            </a:r>
          </a:p>
        </p:txBody>
      </p:sp>
    </p:spTree>
    <p:extLst>
      <p:ext uri="{BB962C8B-B14F-4D97-AF65-F5344CB8AC3E}">
        <p14:creationId xmlns:p14="http://schemas.microsoft.com/office/powerpoint/2010/main" val="622110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8616-3C9D-2232-12F6-9968278B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166C-ADE5-1D4A-85E2-BD54C2DA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uv: Modern Python Package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6BE80-E220-BAFF-932F-C30C1B5BE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4957010" cy="280680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What is uv?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Drop-in replacement for pip + virtualenv written in Rust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10-100x faster than pip: parallel downloads + lockfile (uv.lock)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Reads pyproject.toml (modern standard replacing setup.py &amp; requirements.txt)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One tool: venv creation, package install, dependency resolution, script running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Key Commands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uv venv --python 3.12 &amp; source .venv/bin/activate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uv pip install -e .   (install project + all deps)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uv run pytest tests/ -v   (run tests inside the venv)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F52DC1-E7E6-1BED-4A5D-28081A520FB1}"/>
              </a:ext>
            </a:extLst>
          </p:cNvPr>
          <p:cNvSpPr txBox="1">
            <a:spLocks/>
          </p:cNvSpPr>
          <p:nvPr/>
        </p:nvSpPr>
        <p:spPr>
          <a:xfrm>
            <a:off x="7055318" y="1457186"/>
            <a:ext cx="4957010" cy="280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Arial" pitchFamily="34" charset="0"/>
              </a:rPr>
              <a:t>Real-World Example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Bank CI/CD pipeline: package install step dropped from 4 minutes to 15 seconds with uv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Consultancy data team: uv.lock guarantees every analyst gets identical package versions — no "works on my machine" bugs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Project Files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pyproject.toml — project name, requires-python = "&gt;=3.12", all dependencies, pytest config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.python-version — single line "3.12", tells uv which Python to use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latin typeface="Arial" pitchFamily="34" charset="0"/>
              </a:rPr>
              <a:t>vs pip + virtualenv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pip has no lockfile by default; uv generates uv.lock automatically for reproducibility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600" dirty="0">
                <a:latin typeface="Arial" pitchFamily="34" charset="0"/>
              </a:rPr>
              <a:t>uv reads Python version from .python-version; pip requires manual management</a:t>
            </a:r>
          </a:p>
        </p:txBody>
      </p:sp>
    </p:spTree>
    <p:extLst>
      <p:ext uri="{BB962C8B-B14F-4D97-AF65-F5344CB8AC3E}">
        <p14:creationId xmlns:p14="http://schemas.microsoft.com/office/powerpoint/2010/main" val="3595117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8616-3C9D-2232-12F6-9968278B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166C-ADE5-1D4A-85E2-BD54C2DA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vs ML vs Deep Learning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F52DC1-E7E6-1BED-4A5D-28081A520FB1}"/>
              </a:ext>
            </a:extLst>
          </p:cNvPr>
          <p:cNvSpPr txBox="1">
            <a:spLocks/>
          </p:cNvSpPr>
          <p:nvPr/>
        </p:nvSpPr>
        <p:spPr>
          <a:xfrm>
            <a:off x="6600093" y="1457186"/>
            <a:ext cx="5402610" cy="4799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AI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Machines mimicking human cognitive functions like problem-solving and learning.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br>
              <a:rPr lang="en-US" sz="28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ML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Subset of AI where systems learn from data without explicit programming.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br>
              <a:rPr lang="en-US" sz="28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Deep Learning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Subset of ML using multi-layered neural networks to learn patterns from data.</a:t>
            </a:r>
          </a:p>
          <a:p>
            <a:pPr>
              <a:lnSpc>
                <a:spcPct val="12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56E5E5-AFF8-0993-1AAE-CC92831704E0}"/>
              </a:ext>
            </a:extLst>
          </p:cNvPr>
          <p:cNvGrpSpPr/>
          <p:nvPr/>
        </p:nvGrpSpPr>
        <p:grpSpPr>
          <a:xfrm>
            <a:off x="1639956" y="2189956"/>
            <a:ext cx="4143375" cy="3333750"/>
            <a:chOff x="666750" y="638175"/>
            <a:chExt cx="4143375" cy="3333750"/>
          </a:xfrm>
        </p:grpSpPr>
        <p:pic>
          <p:nvPicPr>
            <p:cNvPr id="6" name="Image 2" descr="preencoded.png">
              <a:extLst>
                <a:ext uri="{FF2B5EF4-FFF2-40B4-BE49-F238E27FC236}">
                  <a16:creationId xmlns:a16="http://schemas.microsoft.com/office/drawing/2014/main" id="{6E87141A-59EA-E537-2AC2-51B65DA3A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6375" y="638175"/>
              <a:ext cx="3333750" cy="3333750"/>
            </a:xfrm>
            <a:prstGeom prst="rect">
              <a:avLst/>
            </a:prstGeom>
          </p:spPr>
        </p:pic>
        <p:pic>
          <p:nvPicPr>
            <p:cNvPr id="7" name="Image 3" descr="preencoded.png">
              <a:extLst>
                <a:ext uri="{FF2B5EF4-FFF2-40B4-BE49-F238E27FC236}">
                  <a16:creationId xmlns:a16="http://schemas.microsoft.com/office/drawing/2014/main" id="{19DD39FF-BFA3-DDA8-F34B-ED14991BA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6750" y="1295400"/>
              <a:ext cx="2381250" cy="2381250"/>
            </a:xfrm>
            <a:prstGeom prst="rect">
              <a:avLst/>
            </a:prstGeom>
          </p:spPr>
        </p:pic>
        <p:pic>
          <p:nvPicPr>
            <p:cNvPr id="8" name="Image 4" descr="preencoded.png">
              <a:extLst>
                <a:ext uri="{FF2B5EF4-FFF2-40B4-BE49-F238E27FC236}">
                  <a16:creationId xmlns:a16="http://schemas.microsoft.com/office/drawing/2014/main" id="{A916D9B1-A8EC-18B0-1DD7-0AD0E9F12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43000" y="1771650"/>
              <a:ext cx="1428750" cy="1428750"/>
            </a:xfrm>
            <a:prstGeom prst="rect">
              <a:avLst/>
            </a:prstGeom>
          </p:spPr>
        </p:pic>
        <p:sp>
          <p:nvSpPr>
            <p:cNvPr id="9" name="Text 1">
              <a:extLst>
                <a:ext uri="{FF2B5EF4-FFF2-40B4-BE49-F238E27FC236}">
                  <a16:creationId xmlns:a16="http://schemas.microsoft.com/office/drawing/2014/main" id="{C774BF39-35EC-ECB1-F582-92005F9FAD43}"/>
                </a:ext>
              </a:extLst>
            </p:cNvPr>
            <p:cNvSpPr/>
            <p:nvPr/>
          </p:nvSpPr>
          <p:spPr>
            <a:xfrm>
              <a:off x="3044508" y="2055019"/>
              <a:ext cx="1570434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2400"/>
                </a:lnSpc>
              </a:pPr>
              <a:r>
                <a:rPr lang="en-US" b="1" dirty="0">
                  <a:solidFill>
                    <a:schemeClr val="bg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AI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6D0FE0DD-47F9-D79B-7469-26264B735CD1}"/>
                </a:ext>
              </a:extLst>
            </p:cNvPr>
            <p:cNvSpPr/>
            <p:nvPr/>
          </p:nvSpPr>
          <p:spPr>
            <a:xfrm>
              <a:off x="2887464" y="2351701"/>
              <a:ext cx="1884521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1500"/>
                </a:lnSpc>
              </a:pPr>
              <a:r>
                <a:rPr lang="en-US" sz="1050" b="1" dirty="0">
                  <a:solidFill>
                    <a:schemeClr val="bg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Artificial Intelligence</a:t>
              </a:r>
              <a:endPara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FA6928C8-4E27-A205-615B-967EB4AC8A15}"/>
                </a:ext>
              </a:extLst>
            </p:cNvPr>
            <p:cNvSpPr/>
            <p:nvPr/>
          </p:nvSpPr>
          <p:spPr>
            <a:xfrm>
              <a:off x="1143000" y="1309688"/>
              <a:ext cx="1336477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2100"/>
                </a:lnSpc>
              </a:pPr>
              <a:r>
                <a:rPr lang="en-US" sz="1500" b="1" dirty="0">
                  <a:solidFill>
                    <a:schemeClr val="bg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ML</a:t>
              </a:r>
              <a:endPara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A4D9F2B8-E332-2C13-F1B9-9986A211FB9B}"/>
                </a:ext>
              </a:extLst>
            </p:cNvPr>
            <p:cNvSpPr/>
            <p:nvPr/>
          </p:nvSpPr>
          <p:spPr>
            <a:xfrm>
              <a:off x="1003617" y="1576652"/>
              <a:ext cx="1603772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1500"/>
                </a:lnSpc>
              </a:pPr>
              <a:r>
                <a:rPr lang="en-US" sz="1050" b="1" dirty="0">
                  <a:solidFill>
                    <a:schemeClr val="bg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Machine Learning</a:t>
              </a:r>
              <a:endPara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5BC1FA66-1D91-3EDA-59CF-FB4D32EAA5E8}"/>
                </a:ext>
              </a:extLst>
            </p:cNvPr>
            <p:cNvSpPr/>
            <p:nvPr/>
          </p:nvSpPr>
          <p:spPr>
            <a:xfrm>
              <a:off x="1265155" y="2243137"/>
              <a:ext cx="1095673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2100"/>
                </a:lnSpc>
              </a:pPr>
              <a:r>
                <a:rPr lang="en-US" sz="1350" b="1" dirty="0">
                  <a:solidFill>
                    <a:schemeClr val="bg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DL</a:t>
              </a:r>
              <a:endPara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CFDF6743-AA1B-4F01-C38F-35C657DEFF13}"/>
                </a:ext>
              </a:extLst>
            </p:cNvPr>
            <p:cNvSpPr/>
            <p:nvPr/>
          </p:nvSpPr>
          <p:spPr>
            <a:xfrm>
              <a:off x="1236458" y="2516981"/>
              <a:ext cx="1314807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1500"/>
                </a:lnSpc>
              </a:pPr>
              <a:r>
                <a:rPr lang="en-US" sz="1050" b="1" dirty="0">
                  <a:solidFill>
                    <a:schemeClr val="bg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Deep Learning</a:t>
              </a:r>
              <a:endPara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360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513D3-84AF-9206-300E-171DE076C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E7B2217-E374-A618-5198-744B4370E175}"/>
              </a:ext>
            </a:extLst>
          </p:cNvPr>
          <p:cNvSpPr/>
          <p:nvPr/>
        </p:nvSpPr>
        <p:spPr>
          <a:xfrm>
            <a:off x="7135983" y="1457186"/>
            <a:ext cx="4885971" cy="3138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3B4652-76EA-DF06-281B-9E82A2576870}"/>
              </a:ext>
            </a:extLst>
          </p:cNvPr>
          <p:cNvSpPr/>
          <p:nvPr/>
        </p:nvSpPr>
        <p:spPr>
          <a:xfrm>
            <a:off x="1639955" y="1457186"/>
            <a:ext cx="4885971" cy="3138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F6EBB9-F3F4-994A-BD58-C30FE8B7D049}"/>
              </a:ext>
            </a:extLst>
          </p:cNvPr>
          <p:cNvSpPr/>
          <p:nvPr/>
        </p:nvSpPr>
        <p:spPr>
          <a:xfrm>
            <a:off x="1639954" y="4661469"/>
            <a:ext cx="4885971" cy="313862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5B9C01-CBE2-CD8E-D1ED-9DE2A4682D44}"/>
              </a:ext>
            </a:extLst>
          </p:cNvPr>
          <p:cNvSpPr/>
          <p:nvPr/>
        </p:nvSpPr>
        <p:spPr>
          <a:xfrm>
            <a:off x="7135983" y="4661469"/>
            <a:ext cx="4885971" cy="3138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8D6BC9-AE52-C5B1-703A-FFC0A259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vs Unsupervised Learning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AAFC14-57AE-C368-78D5-52A75F087BA3}"/>
              </a:ext>
            </a:extLst>
          </p:cNvPr>
          <p:cNvSpPr txBox="1">
            <a:spLocks/>
          </p:cNvSpPr>
          <p:nvPr/>
        </p:nvSpPr>
        <p:spPr>
          <a:xfrm>
            <a:off x="1639957" y="1457186"/>
            <a:ext cx="4885972" cy="1971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Supervised Learning</a:t>
            </a: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Definition: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Training with </a:t>
            </a:r>
            <a:r>
              <a:rPr lang="en-GB" sz="1400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labeled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data (input-output pairs)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Data Requirements: </a:t>
            </a:r>
            <a:r>
              <a:rPr lang="en-GB" sz="1400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Labeled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dataset with input-output pairs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Human Intervention: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High (requires </a:t>
            </a:r>
            <a:r>
              <a:rPr lang="en-GB" sz="1400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labeled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data)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Applications: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Classification, regression, object detection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F62716-11A5-9C72-1B9E-D0A0D792D945}"/>
              </a:ext>
            </a:extLst>
          </p:cNvPr>
          <p:cNvSpPr txBox="1">
            <a:spLocks/>
          </p:cNvSpPr>
          <p:nvPr/>
        </p:nvSpPr>
        <p:spPr>
          <a:xfrm>
            <a:off x="7135982" y="1457187"/>
            <a:ext cx="4885972" cy="1971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Unsupervised Learning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Definition:</a:t>
            </a:r>
            <a:r>
              <a:rPr lang="en-US" sz="1400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 Finding patterns in unlabeled data</a:t>
            </a:r>
          </a:p>
          <a:p>
            <a:pPr marL="171450" indent="-171450">
              <a:lnSpc>
                <a:spcPts val="1800"/>
              </a:lnSpc>
            </a:pPr>
            <a:r>
              <a:rPr lang="en-US" sz="14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Data Requirements:</a:t>
            </a:r>
            <a:r>
              <a:rPr lang="en-US" sz="1400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 Unlabeled data only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ts val="1800"/>
              </a:lnSpc>
            </a:pPr>
            <a:r>
              <a:rPr lang="en-US" sz="14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Human Intervention:</a:t>
            </a:r>
            <a:r>
              <a:rPr lang="en-US" sz="1400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 Medium (cluster interpretation)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ts val="1800"/>
              </a:lnSpc>
            </a:pPr>
            <a:r>
              <a:rPr lang="en-US" sz="14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Applications:</a:t>
            </a:r>
            <a:r>
              <a:rPr lang="en-US" sz="1400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 Clustering, dimensionality reduction, anomaly detection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381DB3-62B5-8884-B6C0-C026ABF21362}"/>
              </a:ext>
            </a:extLst>
          </p:cNvPr>
          <p:cNvSpPr txBox="1">
            <a:spLocks/>
          </p:cNvSpPr>
          <p:nvPr/>
        </p:nvSpPr>
        <p:spPr>
          <a:xfrm>
            <a:off x="1639957" y="4661469"/>
            <a:ext cx="4885972" cy="1412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Semi-supervised Learning</a:t>
            </a: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Definition: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Combination using both </a:t>
            </a:r>
            <a:r>
              <a:rPr lang="en-GB" sz="1400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labeled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and </a:t>
            </a:r>
            <a:r>
              <a:rPr lang="en-GB" sz="1400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unlabeled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data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Approach: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Leverages </a:t>
            </a:r>
            <a:r>
              <a:rPr lang="en-GB" sz="1400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labeled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data for guidance while utilizing </a:t>
            </a:r>
            <a:r>
              <a:rPr lang="en-GB" sz="1400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unlabeled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data to improve generalization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31B176C-06AE-841E-F2E0-F0D355E3906F}"/>
              </a:ext>
            </a:extLst>
          </p:cNvPr>
          <p:cNvSpPr txBox="1">
            <a:spLocks/>
          </p:cNvSpPr>
          <p:nvPr/>
        </p:nvSpPr>
        <p:spPr>
          <a:xfrm>
            <a:off x="7135982" y="4661469"/>
            <a:ext cx="4885972" cy="1412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Self-supervised Learning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Definition:</a:t>
            </a:r>
            <a:r>
              <a:rPr lang="en-US" sz="1400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 Creating labels from the data itself</a:t>
            </a:r>
          </a:p>
          <a:p>
            <a:pPr marL="171450" indent="-171450">
              <a:lnSpc>
                <a:spcPts val="1800"/>
              </a:lnSpc>
            </a:pPr>
            <a:r>
              <a:rPr lang="en-US" sz="14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Approach:</a:t>
            </a:r>
            <a:r>
              <a:rPr lang="en-US" sz="1400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 Designs auxiliary tasks to learn representations without human-labeled data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885B99-F498-8803-984E-92235042C360}"/>
              </a:ext>
            </a:extLst>
          </p:cNvPr>
          <p:cNvGrpSpPr/>
          <p:nvPr/>
        </p:nvGrpSpPr>
        <p:grpSpPr>
          <a:xfrm>
            <a:off x="1857114" y="3651848"/>
            <a:ext cx="4451658" cy="477683"/>
            <a:chOff x="1639956" y="3058830"/>
            <a:chExt cx="4451658" cy="477683"/>
          </a:xfrm>
        </p:grpSpPr>
        <p:pic>
          <p:nvPicPr>
            <p:cNvPr id="6" name="Image 8" descr="preencoded.png">
              <a:extLst>
                <a:ext uri="{FF2B5EF4-FFF2-40B4-BE49-F238E27FC236}">
                  <a16:creationId xmlns:a16="http://schemas.microsoft.com/office/drawing/2014/main" id="{F75C8FD1-B95D-22C5-42B8-52D0B6383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365959" y="3058830"/>
              <a:ext cx="217366" cy="252891"/>
            </a:xfrm>
            <a:prstGeom prst="rect">
              <a:avLst/>
            </a:prstGeom>
          </p:spPr>
        </p:pic>
        <p:pic>
          <p:nvPicPr>
            <p:cNvPr id="7" name="Image 9" descr="preencoded.png">
              <a:extLst>
                <a:ext uri="{FF2B5EF4-FFF2-40B4-BE49-F238E27FC236}">
                  <a16:creationId xmlns:a16="http://schemas.microsoft.com/office/drawing/2014/main" id="{B22A7B3A-68FC-8D5D-F6DD-CC94DD48A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757102" y="3058830"/>
              <a:ext cx="217366" cy="252891"/>
            </a:xfrm>
            <a:prstGeom prst="rect">
              <a:avLst/>
            </a:prstGeom>
          </p:spPr>
        </p:pic>
        <p:pic>
          <p:nvPicPr>
            <p:cNvPr id="8" name="Image 10" descr="preencoded.png">
              <a:extLst>
                <a:ext uri="{FF2B5EF4-FFF2-40B4-BE49-F238E27FC236}">
                  <a16:creationId xmlns:a16="http://schemas.microsoft.com/office/drawing/2014/main" id="{3274F897-8CCE-04A2-849E-CDCF10347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148245" y="3058830"/>
              <a:ext cx="217366" cy="252891"/>
            </a:xfrm>
            <a:prstGeom prst="rect">
              <a:avLst/>
            </a:prstGeom>
          </p:spPr>
        </p:pic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488AD511-03B1-12DB-ACB9-8B6D60F0228E}"/>
                </a:ext>
              </a:extLst>
            </p:cNvPr>
            <p:cNvSpPr/>
            <p:nvPr/>
          </p:nvSpPr>
          <p:spPr>
            <a:xfrm>
              <a:off x="1639956" y="3367919"/>
              <a:ext cx="1669372" cy="168594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Classification</a:t>
              </a:r>
              <a:endPara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7E9E434C-ECE0-0684-3E55-2AD873702AAC}"/>
                </a:ext>
              </a:extLst>
            </p:cNvPr>
            <p:cNvSpPr/>
            <p:nvPr/>
          </p:nvSpPr>
          <p:spPr>
            <a:xfrm>
              <a:off x="3170213" y="3367919"/>
              <a:ext cx="1391143" cy="168594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Regression</a:t>
              </a:r>
              <a:endPara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4EFC4C59-9A85-7F92-F29A-9E6CCC54B0B0}"/>
                </a:ext>
              </a:extLst>
            </p:cNvPr>
            <p:cNvSpPr/>
            <p:nvPr/>
          </p:nvSpPr>
          <p:spPr>
            <a:xfrm>
              <a:off x="4422242" y="3367919"/>
              <a:ext cx="1669372" cy="168594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Object Detection</a:t>
              </a:r>
              <a:endPara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3BA668C-29D2-5702-6B2F-CBB8BCCC1353}"/>
              </a:ext>
            </a:extLst>
          </p:cNvPr>
          <p:cNvGrpSpPr/>
          <p:nvPr/>
        </p:nvGrpSpPr>
        <p:grpSpPr>
          <a:xfrm>
            <a:off x="7422696" y="3567551"/>
            <a:ext cx="4312544" cy="646277"/>
            <a:chOff x="6358250" y="3227424"/>
            <a:chExt cx="4312544" cy="646277"/>
          </a:xfrm>
        </p:grpSpPr>
        <p:pic>
          <p:nvPicPr>
            <p:cNvPr id="16" name="Image 17" descr="preencoded.png">
              <a:extLst>
                <a:ext uri="{FF2B5EF4-FFF2-40B4-BE49-F238E27FC236}">
                  <a16:creationId xmlns:a16="http://schemas.microsoft.com/office/drawing/2014/main" id="{89F38884-75EA-67CE-822A-9553C1CE8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916156" y="3311721"/>
              <a:ext cx="275330" cy="252891"/>
            </a:xfrm>
            <a:prstGeom prst="rect">
              <a:avLst/>
            </a:prstGeom>
          </p:spPr>
        </p:pic>
        <p:pic>
          <p:nvPicPr>
            <p:cNvPr id="17" name="Image 18" descr="preencoded.png">
              <a:extLst>
                <a:ext uri="{FF2B5EF4-FFF2-40B4-BE49-F238E27FC236}">
                  <a16:creationId xmlns:a16="http://schemas.microsoft.com/office/drawing/2014/main" id="{7C25AD7B-C304-2263-78DE-6B6009047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336281" y="3227424"/>
              <a:ext cx="217366" cy="252891"/>
            </a:xfrm>
            <a:prstGeom prst="rect">
              <a:avLst/>
            </a:prstGeom>
          </p:spPr>
        </p:pic>
        <p:pic>
          <p:nvPicPr>
            <p:cNvPr id="18" name="Image 19" descr="preencoded.png">
              <a:extLst>
                <a:ext uri="{FF2B5EF4-FFF2-40B4-BE49-F238E27FC236}">
                  <a16:creationId xmlns:a16="http://schemas.microsoft.com/office/drawing/2014/main" id="{A20921B8-FD21-D5A6-82E6-5EB3E6FC8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727425" y="3311721"/>
              <a:ext cx="217366" cy="252891"/>
            </a:xfrm>
            <a:prstGeom prst="rect">
              <a:avLst/>
            </a:prstGeom>
          </p:spPr>
        </p:pic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7F953D93-FA68-2C70-6F9C-A90AA28B6200}"/>
                </a:ext>
              </a:extLst>
            </p:cNvPr>
            <p:cNvSpPr/>
            <p:nvPr/>
          </p:nvSpPr>
          <p:spPr>
            <a:xfrm>
              <a:off x="6358250" y="3620810"/>
              <a:ext cx="1391143" cy="168594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Clustering</a:t>
              </a:r>
              <a:endPara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0C740A53-9D2E-9DDF-DA79-EC36AFEC7EC1}"/>
                </a:ext>
              </a:extLst>
            </p:cNvPr>
            <p:cNvSpPr/>
            <p:nvPr/>
          </p:nvSpPr>
          <p:spPr>
            <a:xfrm>
              <a:off x="7749393" y="3536513"/>
              <a:ext cx="1391143" cy="337188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Dimensionality Reduction</a:t>
              </a:r>
              <a:endPara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1E22EA85-3797-D35B-02C7-410BC1B08149}"/>
                </a:ext>
              </a:extLst>
            </p:cNvPr>
            <p:cNvSpPr/>
            <p:nvPr/>
          </p:nvSpPr>
          <p:spPr>
            <a:xfrm>
              <a:off x="9001422" y="3620810"/>
              <a:ext cx="1669372" cy="168594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Arial" panose="020B0604020202020204" pitchFamily="34" charset="0"/>
                  <a:ea typeface="ui-sans-serif" pitchFamily="34" charset="-122"/>
                  <a:cs typeface="Arial" panose="020B0604020202020204" pitchFamily="34" charset="0"/>
                </a:rPr>
                <a:t>Anomaly Detection</a:t>
              </a:r>
              <a:endPara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C7B4AC2-6AC6-3FF7-F510-9BF43DDC1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0331" y="6210246"/>
            <a:ext cx="10391623" cy="621871"/>
          </a:xfrm>
        </p:spPr>
        <p:txBody>
          <a:bodyPr>
            <a:norm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Key Difference:</a:t>
            </a:r>
            <a:r>
              <a:rPr lang="en-US" sz="1400" dirty="0"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 Supervised learning requires labeled data and clear outputs, while unsupervised learning discovers hidden patterns in unlabeled data.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9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8616-3C9D-2232-12F6-9968278B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166C-ADE5-1D4A-85E2-BD54C2DA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6BE80-E220-BAFF-932F-C30C1B5BE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4957010" cy="2806806"/>
          </a:xfrm>
        </p:spPr>
        <p:txBody>
          <a:bodyPr>
            <a:normAutofit/>
          </a:bodyPr>
          <a:lstStyle/>
          <a:p>
            <a:r>
              <a:rPr lang="en-US" sz="1800" b="1" dirty="0"/>
              <a:t>Biological Inspiration</a:t>
            </a:r>
          </a:p>
          <a:p>
            <a:pPr lvl="1"/>
            <a:r>
              <a:rPr lang="en-GB" sz="1600" dirty="0"/>
              <a:t>Neural networks are inspired by the human brain</a:t>
            </a:r>
          </a:p>
          <a:p>
            <a:r>
              <a:rPr lang="en-GB" sz="1800" b="1" dirty="0"/>
              <a:t>Components</a:t>
            </a:r>
          </a:p>
          <a:p>
            <a:pPr lvl="1"/>
            <a:r>
              <a:rPr lang="en-GB" sz="1600" dirty="0"/>
              <a:t>Neurons (nodes), layers, weights, and biases</a:t>
            </a:r>
          </a:p>
          <a:p>
            <a:r>
              <a:rPr lang="en-GB" sz="1800" b="1" dirty="0"/>
              <a:t>Layer Types</a:t>
            </a:r>
          </a:p>
          <a:p>
            <a:pPr lvl="1"/>
            <a:r>
              <a:rPr lang="en-GB" sz="1600" b="1" dirty="0"/>
              <a:t>Input: </a:t>
            </a:r>
            <a:r>
              <a:rPr lang="en-GB" sz="1600" dirty="0"/>
              <a:t>Receives data</a:t>
            </a:r>
          </a:p>
          <a:p>
            <a:pPr lvl="1"/>
            <a:r>
              <a:rPr lang="en-GB" sz="1600" b="1" dirty="0"/>
              <a:t>Hidden: </a:t>
            </a:r>
            <a:r>
              <a:rPr lang="en-GB" sz="1600" dirty="0"/>
              <a:t>Transforms inputs</a:t>
            </a:r>
          </a:p>
          <a:p>
            <a:pPr lvl="1"/>
            <a:r>
              <a:rPr lang="en-GB" sz="1600" b="1" dirty="0"/>
              <a:t>Output: </a:t>
            </a:r>
            <a:r>
              <a:rPr lang="en-GB" sz="1600" dirty="0"/>
              <a:t>Produces predictions</a:t>
            </a:r>
          </a:p>
          <a:p>
            <a:pPr lvl="1"/>
            <a:endParaRPr lang="en-GB" sz="1800" dirty="0"/>
          </a:p>
          <a:p>
            <a:pPr lvl="1"/>
            <a:endParaRPr lang="en-GB" sz="1800" dirty="0"/>
          </a:p>
          <a:p>
            <a:pPr lvl="1"/>
            <a:endParaRPr lang="en-GB" sz="1800" dirty="0"/>
          </a:p>
          <a:p>
            <a:endParaRPr lang="en-GB" sz="1800" dirty="0"/>
          </a:p>
          <a:p>
            <a:endParaRPr lang="en-US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F52DC1-E7E6-1BED-4A5D-28081A520FB1}"/>
              </a:ext>
            </a:extLst>
          </p:cNvPr>
          <p:cNvSpPr txBox="1">
            <a:spLocks/>
          </p:cNvSpPr>
          <p:nvPr/>
        </p:nvSpPr>
        <p:spPr>
          <a:xfrm>
            <a:off x="7055318" y="1457186"/>
            <a:ext cx="4957010" cy="280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Forward Propagation</a:t>
            </a:r>
          </a:p>
          <a:p>
            <a:pPr lvl="1"/>
            <a:r>
              <a:rPr lang="en-GB" sz="1600" dirty="0"/>
              <a:t>Signal flows from input to output</a:t>
            </a:r>
          </a:p>
          <a:p>
            <a:r>
              <a:rPr lang="en-GB" sz="1800" b="1" dirty="0"/>
              <a:t>Backpropagation</a:t>
            </a:r>
          </a:p>
          <a:p>
            <a:pPr lvl="1"/>
            <a:r>
              <a:rPr lang="en-GB" sz="1600" dirty="0"/>
              <a:t>Adjusts weights based on error</a:t>
            </a:r>
          </a:p>
          <a:p>
            <a:r>
              <a:rPr lang="en-GB" sz="1800" b="1" dirty="0"/>
              <a:t>Training Process</a:t>
            </a:r>
          </a:p>
          <a:p>
            <a:pPr lvl="1"/>
            <a:r>
              <a:rPr lang="en-GB" sz="1600" dirty="0"/>
              <a:t>Uses gradient descent and optimization</a:t>
            </a:r>
          </a:p>
          <a:p>
            <a:pPr lvl="1"/>
            <a:endParaRPr lang="en-GB" sz="1800" dirty="0"/>
          </a:p>
          <a:p>
            <a:pPr lvl="1"/>
            <a:endParaRPr lang="en-GB" sz="1800" dirty="0"/>
          </a:p>
          <a:p>
            <a:endParaRPr lang="en-US" sz="1800" dirty="0"/>
          </a:p>
        </p:txBody>
      </p:sp>
      <p:pic>
        <p:nvPicPr>
          <p:cNvPr id="5" name="Image 14" descr="preencoded.png">
            <a:extLst>
              <a:ext uri="{FF2B5EF4-FFF2-40B4-BE49-F238E27FC236}">
                <a16:creationId xmlns:a16="http://schemas.microsoft.com/office/drawing/2014/main" id="{6BE79C53-1C5B-9665-D080-7AB4F9E906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32"/>
          <a:stretch>
            <a:fillRect/>
          </a:stretch>
        </p:blipFill>
        <p:spPr>
          <a:xfrm>
            <a:off x="3303296" y="4263992"/>
            <a:ext cx="7504044" cy="244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58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51F7-88C2-F617-4F81-8F419456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15AAB-117F-9EF8-9233-A6A56CE71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10391623" cy="621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Natural Language Processing (NLP)</a:t>
            </a:r>
            <a:r>
              <a:rPr lang="en-US" sz="18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enables computers to understand, interpret, and generate human language, bridging the gap between human communication and computer comprehension.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D6CD01-956E-D09D-8F0A-8DFA6CDB8B91}"/>
              </a:ext>
            </a:extLst>
          </p:cNvPr>
          <p:cNvSpPr txBox="1">
            <a:spLocks/>
          </p:cNvSpPr>
          <p:nvPr/>
        </p:nvSpPr>
        <p:spPr>
          <a:xfrm>
            <a:off x="1639954" y="2235466"/>
            <a:ext cx="3336303" cy="2359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Key Challenges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Ambiguity: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Words with multiple meanings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Context-dependence: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Meaning varies by context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Evolving language: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New words and usage patterns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Semantic complexity: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Understanding implied meanings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8D47F3-7CFD-AACC-B1FC-64A71418F6FC}"/>
              </a:ext>
            </a:extLst>
          </p:cNvPr>
          <p:cNvSpPr txBox="1">
            <a:spLocks/>
          </p:cNvSpPr>
          <p:nvPr/>
        </p:nvSpPr>
        <p:spPr>
          <a:xfrm>
            <a:off x="5167615" y="2235467"/>
            <a:ext cx="3371821" cy="23870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Core Tasks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Text classification: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Categorizing text content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Named entity recognition: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Identifying people, places, organizations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Sentiment analysis: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Determining emotional tone</a:t>
            </a:r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Dependency parsing: </a:t>
            </a:r>
            <a:r>
              <a:rPr lang="en-GB" sz="1400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Analyzing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grammatical structure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451707-474D-68F6-7526-D79BD22DCC4A}"/>
              </a:ext>
            </a:extLst>
          </p:cNvPr>
          <p:cNvSpPr txBox="1">
            <a:spLocks/>
          </p:cNvSpPr>
          <p:nvPr/>
        </p:nvSpPr>
        <p:spPr>
          <a:xfrm>
            <a:off x="8730794" y="2235466"/>
            <a:ext cx="3371821" cy="231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Applications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Machine translation: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Converting text between languages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Chatbots: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Conversational agents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Text summarization: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Condensing content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Question answering: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Providing answers to questions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E4A411-F7FA-AFF3-E0F7-3F48586772B8}"/>
              </a:ext>
            </a:extLst>
          </p:cNvPr>
          <p:cNvSpPr txBox="1">
            <a:spLocks/>
          </p:cNvSpPr>
          <p:nvPr/>
        </p:nvSpPr>
        <p:spPr>
          <a:xfrm>
            <a:off x="1639956" y="4880009"/>
            <a:ext cx="5039977" cy="164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NLP Evolution</a:t>
            </a:r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Rule-based → Statistical → </a:t>
            </a:r>
            <a:r>
              <a:rPr lang="en-GB" sz="1400" b="1" dirty="0">
                <a:solidFill>
                  <a:schemeClr val="accent3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Neural (Transformer-based)</a:t>
            </a:r>
          </a:p>
          <a:p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endParaRPr lang="en-US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B6D0F98-5E85-816C-2A01-3431BB35EE07}"/>
              </a:ext>
            </a:extLst>
          </p:cNvPr>
          <p:cNvSpPr txBox="1">
            <a:spLocks/>
          </p:cNvSpPr>
          <p:nvPr/>
        </p:nvSpPr>
        <p:spPr>
          <a:xfrm>
            <a:off x="6991601" y="4880009"/>
            <a:ext cx="5039977" cy="16459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Modern NLP</a:t>
            </a:r>
          </a:p>
          <a:p>
            <a:r>
              <a:rPr lang="en-GB" sz="15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Transformer architecture: </a:t>
            </a:r>
            <a:r>
              <a:rPr lang="en-GB" sz="15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Revolutionized NLP</a:t>
            </a:r>
          </a:p>
          <a:p>
            <a:r>
              <a:rPr lang="en-GB" sz="15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BERT: </a:t>
            </a:r>
            <a:r>
              <a:rPr lang="en-GB" sz="15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Bidirectional understanding</a:t>
            </a:r>
          </a:p>
          <a:p>
            <a:r>
              <a:rPr lang="en-GB" sz="15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GPT: </a:t>
            </a:r>
            <a:r>
              <a:rPr lang="en-GB" sz="15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Generative capabilities</a:t>
            </a:r>
          </a:p>
          <a:p>
            <a:r>
              <a:rPr lang="en-GB" sz="15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Multimodal processing: </a:t>
            </a:r>
            <a:r>
              <a:rPr lang="en-GB" sz="15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Text + images + audio + video</a:t>
            </a:r>
          </a:p>
          <a:p>
            <a:endParaRPr lang="en-US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</p:txBody>
      </p:sp>
      <p:pic>
        <p:nvPicPr>
          <p:cNvPr id="15" name="Image 12" descr="preencoded.png">
            <a:extLst>
              <a:ext uri="{FF2B5EF4-FFF2-40B4-BE49-F238E27FC236}">
                <a16:creationId xmlns:a16="http://schemas.microsoft.com/office/drawing/2014/main" id="{8E583FD4-97F3-03ED-1259-5E424A4EA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747" y="5005417"/>
            <a:ext cx="5524500" cy="114300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A6157B6-33A1-7F47-0723-017109BA351D}"/>
              </a:ext>
            </a:extLst>
          </p:cNvPr>
          <p:cNvSpPr/>
          <p:nvPr/>
        </p:nvSpPr>
        <p:spPr>
          <a:xfrm>
            <a:off x="1633988" y="2204464"/>
            <a:ext cx="45719" cy="2418068"/>
          </a:xfrm>
          <a:prstGeom prst="roundRect">
            <a:avLst/>
          </a:prstGeom>
          <a:solidFill>
            <a:srgbClr val="EFB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F0B298-BE41-8AB4-D60C-509110D43760}"/>
              </a:ext>
            </a:extLst>
          </p:cNvPr>
          <p:cNvSpPr/>
          <p:nvPr/>
        </p:nvSpPr>
        <p:spPr>
          <a:xfrm>
            <a:off x="5182391" y="2235466"/>
            <a:ext cx="45719" cy="24180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88F38B-7DDB-7CB2-18AE-FC248AAE54F2}"/>
              </a:ext>
            </a:extLst>
          </p:cNvPr>
          <p:cNvSpPr/>
          <p:nvPr/>
        </p:nvSpPr>
        <p:spPr>
          <a:xfrm>
            <a:off x="8730794" y="2235466"/>
            <a:ext cx="45719" cy="2418068"/>
          </a:xfrm>
          <a:prstGeom prst="roundRect">
            <a:avLst/>
          </a:prstGeom>
          <a:solidFill>
            <a:srgbClr val="23C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F9CCF01-73B3-64BC-20AF-AE7698A0434E}"/>
              </a:ext>
            </a:extLst>
          </p:cNvPr>
          <p:cNvSpPr/>
          <p:nvPr/>
        </p:nvSpPr>
        <p:spPr>
          <a:xfrm>
            <a:off x="1633988" y="4880009"/>
            <a:ext cx="45719" cy="164591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30094FC-4BF4-7666-4EF8-EDBB405029EF}"/>
              </a:ext>
            </a:extLst>
          </p:cNvPr>
          <p:cNvSpPr/>
          <p:nvPr/>
        </p:nvSpPr>
        <p:spPr>
          <a:xfrm>
            <a:off x="6991601" y="4880008"/>
            <a:ext cx="45719" cy="1645917"/>
          </a:xfrm>
          <a:prstGeom prst="roundRect">
            <a:avLst/>
          </a:prstGeom>
          <a:solidFill>
            <a:srgbClr val="15B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11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BCF2-4F3B-7B26-F8EA-93149889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7907148-75BC-BD98-F5AC-E4AC1DE0FBFB}"/>
              </a:ext>
            </a:extLst>
          </p:cNvPr>
          <p:cNvSpPr/>
          <p:nvPr/>
        </p:nvSpPr>
        <p:spPr>
          <a:xfrm>
            <a:off x="1639952" y="4778945"/>
            <a:ext cx="5039977" cy="174698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D39074-6C8D-8B85-87E7-5E14DC5B6B94}"/>
              </a:ext>
            </a:extLst>
          </p:cNvPr>
          <p:cNvSpPr/>
          <p:nvPr/>
        </p:nvSpPr>
        <p:spPr>
          <a:xfrm>
            <a:off x="8695275" y="2130955"/>
            <a:ext cx="3336303" cy="231728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1FAC953-411D-473F-A368-5E0F75292765}"/>
              </a:ext>
            </a:extLst>
          </p:cNvPr>
          <p:cNvSpPr/>
          <p:nvPr/>
        </p:nvSpPr>
        <p:spPr>
          <a:xfrm>
            <a:off x="5176494" y="2119484"/>
            <a:ext cx="3336303" cy="231728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8C86BD8-C8E5-C4D1-21AA-820BC9D548AA}"/>
              </a:ext>
            </a:extLst>
          </p:cNvPr>
          <p:cNvSpPr/>
          <p:nvPr/>
        </p:nvSpPr>
        <p:spPr>
          <a:xfrm>
            <a:off x="1639954" y="2130956"/>
            <a:ext cx="3336303" cy="231728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A894AE-7F1E-44EC-0EFB-9AD6C98BFFC9}"/>
              </a:ext>
            </a:extLst>
          </p:cNvPr>
          <p:cNvSpPr/>
          <p:nvPr/>
        </p:nvSpPr>
        <p:spPr>
          <a:xfrm>
            <a:off x="1731391" y="3108960"/>
            <a:ext cx="3153427" cy="50051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7BE2FA-68B2-C042-5807-70AA30D499F5}"/>
              </a:ext>
            </a:extLst>
          </p:cNvPr>
          <p:cNvSpPr txBox="1">
            <a:spLocks/>
          </p:cNvSpPr>
          <p:nvPr/>
        </p:nvSpPr>
        <p:spPr>
          <a:xfrm>
            <a:off x="1639954" y="2235467"/>
            <a:ext cx="3336303" cy="2317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Word-level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Splitting on spaces and punctuation.</a:t>
            </a:r>
          </a:p>
          <a:p>
            <a:pPr marL="0" indent="0" algn="ctr">
              <a:buNone/>
            </a:pPr>
            <a:endParaRPr lang="en-GB" sz="1400" b="1" dirty="0">
              <a:highlight>
                <a:srgbClr val="FFBA49"/>
              </a:highlight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400" b="1" dirty="0">
                <a:highlight>
                  <a:srgbClr val="FFBA49"/>
                </a:highlight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AI</a:t>
            </a: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    </a:t>
            </a:r>
            <a:r>
              <a:rPr lang="en-GB" sz="1400" b="1" dirty="0">
                <a:highlight>
                  <a:srgbClr val="FFBA49"/>
                </a:highlight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is</a:t>
            </a: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    </a:t>
            </a:r>
            <a:r>
              <a:rPr lang="en-GB" sz="1400" b="1" dirty="0">
                <a:highlight>
                  <a:srgbClr val="FFBA49"/>
                </a:highlight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powerful</a:t>
            </a:r>
            <a:endParaRPr lang="en-GB" sz="1400" dirty="0">
              <a:highlight>
                <a:srgbClr val="FFBA49"/>
              </a:highlight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00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Simple and intuitive</a:t>
            </a:r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endParaRPr lang="en-US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2743A46-7AB1-058A-53C2-C43AA21B2896}"/>
              </a:ext>
            </a:extLst>
          </p:cNvPr>
          <p:cNvSpPr/>
          <p:nvPr/>
        </p:nvSpPr>
        <p:spPr>
          <a:xfrm>
            <a:off x="1639954" y="5877827"/>
            <a:ext cx="1777014" cy="42351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69A143-F8AE-AB55-3077-A4A7F8F5612B}"/>
              </a:ext>
            </a:extLst>
          </p:cNvPr>
          <p:cNvSpPr/>
          <p:nvPr/>
        </p:nvSpPr>
        <p:spPr>
          <a:xfrm>
            <a:off x="1639954" y="5226518"/>
            <a:ext cx="1777014" cy="42351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D7DEF7-AF02-0843-D251-00C42234485D}"/>
              </a:ext>
            </a:extLst>
          </p:cNvPr>
          <p:cNvSpPr/>
          <p:nvPr/>
        </p:nvSpPr>
        <p:spPr>
          <a:xfrm>
            <a:off x="8804472" y="3108960"/>
            <a:ext cx="3153427" cy="50051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B24C5E-8EBA-29DE-1A23-10D4A97B3C78}"/>
              </a:ext>
            </a:extLst>
          </p:cNvPr>
          <p:cNvSpPr/>
          <p:nvPr/>
        </p:nvSpPr>
        <p:spPr>
          <a:xfrm>
            <a:off x="5259052" y="3289994"/>
            <a:ext cx="3153427" cy="50051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0E3CC-44EB-A370-64CF-5E6BD5B61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7F64C-8D67-348F-5F0C-828D34284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956" y="1457186"/>
            <a:ext cx="10391623" cy="621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Tokenization is the process of breaking down text into smaller units called </a:t>
            </a:r>
            <a:r>
              <a:rPr lang="en-GB" sz="18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tokens</a:t>
            </a:r>
            <a:r>
              <a:rPr lang="en-GB" sz="18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. These tokens can be words, </a:t>
            </a:r>
            <a:r>
              <a:rPr lang="en-GB" sz="1800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subwords</a:t>
            </a:r>
            <a:r>
              <a:rPr lang="en-GB" sz="18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, or even characters.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70DE6D-2753-A369-D8F8-21437AA17D01}"/>
              </a:ext>
            </a:extLst>
          </p:cNvPr>
          <p:cNvSpPr txBox="1">
            <a:spLocks/>
          </p:cNvSpPr>
          <p:nvPr/>
        </p:nvSpPr>
        <p:spPr>
          <a:xfrm>
            <a:off x="5167615" y="2235467"/>
            <a:ext cx="3336303" cy="2387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Subword</a:t>
            </a: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-level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Breaking words into meaningful pieces (BPE, </a:t>
            </a:r>
            <a:r>
              <a:rPr lang="en-GB" sz="1400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WordPiece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).</a:t>
            </a:r>
          </a:p>
          <a:p>
            <a:pPr marL="0" indent="0">
              <a:buNone/>
            </a:pPr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400" b="1" dirty="0">
                <a:highlight>
                  <a:srgbClr val="00FF00"/>
                </a:highlight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AI</a:t>
            </a: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   </a:t>
            </a:r>
            <a:r>
              <a:rPr lang="en-GB" sz="1400" b="1" dirty="0">
                <a:highlight>
                  <a:srgbClr val="00FF00"/>
                </a:highlight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is</a:t>
            </a: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   </a:t>
            </a:r>
            <a:r>
              <a:rPr lang="en-GB" sz="1400" b="1" dirty="0">
                <a:highlight>
                  <a:srgbClr val="00FF00"/>
                </a:highlight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power</a:t>
            </a: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   </a:t>
            </a:r>
            <a:r>
              <a:rPr lang="en-GB" sz="1400" b="1" dirty="0" err="1">
                <a:highlight>
                  <a:srgbClr val="00FF00"/>
                </a:highlight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ful</a:t>
            </a:r>
            <a:endParaRPr lang="en-GB" sz="1400" b="1" dirty="0">
              <a:highlight>
                <a:srgbClr val="00FF00"/>
              </a:highlight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Handles rare words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43732-D880-F421-6065-86603C66E5FA}"/>
              </a:ext>
            </a:extLst>
          </p:cNvPr>
          <p:cNvSpPr txBox="1">
            <a:spLocks/>
          </p:cNvSpPr>
          <p:nvPr/>
        </p:nvSpPr>
        <p:spPr>
          <a:xfrm>
            <a:off x="8730794" y="2213811"/>
            <a:ext cx="3300785" cy="2387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Character-level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Individual characters as tokens.</a:t>
            </a:r>
          </a:p>
          <a:p>
            <a:pPr marL="0" indent="0">
              <a:buNone/>
            </a:pPr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400" b="1" dirty="0">
                <a:highlight>
                  <a:srgbClr val="00FFFF"/>
                </a:highlight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</a:t>
            </a: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   </a:t>
            </a:r>
            <a:r>
              <a:rPr lang="en-GB" sz="1400" b="1" dirty="0">
                <a:highlight>
                  <a:srgbClr val="00FFFF"/>
                </a:highlight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</a:t>
            </a: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   </a:t>
            </a:r>
            <a:r>
              <a:rPr lang="en-GB" sz="1400" b="1" dirty="0" err="1">
                <a:highlight>
                  <a:srgbClr val="00FFFF"/>
                </a:highlight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</a:t>
            </a: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   </a:t>
            </a:r>
            <a:r>
              <a:rPr lang="en-GB" sz="1400" b="1" dirty="0">
                <a:highlight>
                  <a:srgbClr val="00FFFF"/>
                </a:highlight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</a:t>
            </a: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Simple for any language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A26939-76FB-39CD-F731-37D9E740672D}"/>
              </a:ext>
            </a:extLst>
          </p:cNvPr>
          <p:cNvSpPr txBox="1">
            <a:spLocks/>
          </p:cNvSpPr>
          <p:nvPr/>
        </p:nvSpPr>
        <p:spPr>
          <a:xfrm>
            <a:off x="1639956" y="4880009"/>
            <a:ext cx="5039977" cy="164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Special Tokens</a:t>
            </a:r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[CLS]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		Marks start of sequence</a:t>
            </a:r>
          </a:p>
          <a:p>
            <a:pPr marL="0" indent="0">
              <a:buNone/>
            </a:pPr>
            <a:endParaRPr lang="en-GB" sz="1400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[SEP]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		Separates sequences</a:t>
            </a:r>
          </a:p>
          <a:p>
            <a:pPr marL="0" indent="0">
              <a:buNone/>
            </a:pPr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endParaRPr lang="en-GB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endParaRPr lang="en-US" sz="1400" b="1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2FADF1-73FE-FB09-2882-C7443785D52D}"/>
              </a:ext>
            </a:extLst>
          </p:cNvPr>
          <p:cNvSpPr txBox="1">
            <a:spLocks/>
          </p:cNvSpPr>
          <p:nvPr/>
        </p:nvSpPr>
        <p:spPr>
          <a:xfrm>
            <a:off x="6991601" y="4880009"/>
            <a:ext cx="5039977" cy="164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Challenges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Different languages with varying structure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Emojis and special characters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Rare words and out-of-vocabulary items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Impact on vocabulary size and model performance</a:t>
            </a:r>
            <a:endParaRPr lang="en-US" sz="1400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046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E8172-DF4D-B2B3-E147-B8FB020A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AC4D-E12B-6C83-6DFB-812EC5B2F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 (Word2Vec, GloVe)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31EB5E-6995-E3A7-7414-05B2389A3A08}"/>
              </a:ext>
            </a:extLst>
          </p:cNvPr>
          <p:cNvSpPr txBox="1">
            <a:spLocks/>
          </p:cNvSpPr>
          <p:nvPr/>
        </p:nvSpPr>
        <p:spPr>
          <a:xfrm>
            <a:off x="1639957" y="1457187"/>
            <a:ext cx="4885972" cy="1825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Word2Vec (2013)</a:t>
            </a: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Definition: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Predictive model learning word relationships based on context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CBOW: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Predicts target word from context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Skip-gram: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Predicts context words from target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Strengths: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Efficient for large datasets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0DCE0C-13E5-664A-2242-2195916401DC}"/>
              </a:ext>
            </a:extLst>
          </p:cNvPr>
          <p:cNvSpPr txBox="1">
            <a:spLocks/>
          </p:cNvSpPr>
          <p:nvPr/>
        </p:nvSpPr>
        <p:spPr>
          <a:xfrm>
            <a:off x="7135982" y="1457187"/>
            <a:ext cx="4885972" cy="1825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GloVe (2014)</a:t>
            </a: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Definition: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Global co-occurrence statistics approach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Approach: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Constructs global co-occurrence matrix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Learning: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Learns from overall co-occurrence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Strengths: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Balances local and global statistics</a:t>
            </a:r>
          </a:p>
        </p:txBody>
      </p:sp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5FAC4541-D4C3-8D17-FD52-62DAA0879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088" y="3429000"/>
            <a:ext cx="9143711" cy="1752105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7F576A1-0405-F034-BB71-7137E31A840B}"/>
              </a:ext>
            </a:extLst>
          </p:cNvPr>
          <p:cNvSpPr txBox="1">
            <a:spLocks/>
          </p:cNvSpPr>
          <p:nvPr/>
        </p:nvSpPr>
        <p:spPr>
          <a:xfrm>
            <a:off x="1639957" y="5245768"/>
            <a:ext cx="4885972" cy="1612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Key Properties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Similar words have similar vector representations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Captures semantic relationships and analogies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king - man + woman ≈ queen (vector arithmetic)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Pre-trained models available for common languages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721D7F3-46F4-3E0A-F119-5CC2F7D00722}"/>
              </a:ext>
            </a:extLst>
          </p:cNvPr>
          <p:cNvSpPr txBox="1">
            <a:spLocks/>
          </p:cNvSpPr>
          <p:nvPr/>
        </p:nvSpPr>
        <p:spPr>
          <a:xfrm>
            <a:off x="7135982" y="5245768"/>
            <a:ext cx="4885972" cy="1612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Limitations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Static representations (context ignored)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Word ambiguity not fully resolved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Requires large datasets for training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Computational complexity for large vocabularies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E95A0A-30BB-56F9-105B-8F5C00CE84BD}"/>
              </a:ext>
            </a:extLst>
          </p:cNvPr>
          <p:cNvSpPr/>
          <p:nvPr/>
        </p:nvSpPr>
        <p:spPr>
          <a:xfrm>
            <a:off x="1639956" y="1457185"/>
            <a:ext cx="45719" cy="1825027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F46AF1-D423-9303-5CD7-0CF6E7C7D5B2}"/>
              </a:ext>
            </a:extLst>
          </p:cNvPr>
          <p:cNvSpPr/>
          <p:nvPr/>
        </p:nvSpPr>
        <p:spPr>
          <a:xfrm>
            <a:off x="7135982" y="1457185"/>
            <a:ext cx="45719" cy="1825026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CE8D3A-949A-B311-35BE-B757A24BF3ED}"/>
              </a:ext>
            </a:extLst>
          </p:cNvPr>
          <p:cNvSpPr/>
          <p:nvPr/>
        </p:nvSpPr>
        <p:spPr>
          <a:xfrm>
            <a:off x="1639956" y="5245765"/>
            <a:ext cx="45719" cy="1612232"/>
          </a:xfrm>
          <a:prstGeom prst="roundRect">
            <a:avLst/>
          </a:prstGeom>
          <a:solidFill>
            <a:srgbClr val="23C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E4576CC-E9B5-7893-F933-CE3C053809E4}"/>
              </a:ext>
            </a:extLst>
          </p:cNvPr>
          <p:cNvSpPr/>
          <p:nvPr/>
        </p:nvSpPr>
        <p:spPr>
          <a:xfrm>
            <a:off x="7135982" y="5245764"/>
            <a:ext cx="45719" cy="1612232"/>
          </a:xfrm>
          <a:prstGeom prst="roundRect">
            <a:avLst/>
          </a:prstGeom>
          <a:solidFill>
            <a:srgbClr val="F05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22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3AE3-BDE5-BBF0-F2F7-AFB5581E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1F8C-A5C8-0425-203C-3D991DF8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Similarity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7F2A8A-A0CC-7217-6919-448262E12AFB}"/>
              </a:ext>
            </a:extLst>
          </p:cNvPr>
          <p:cNvSpPr txBox="1">
            <a:spLocks/>
          </p:cNvSpPr>
          <p:nvPr/>
        </p:nvSpPr>
        <p:spPr>
          <a:xfrm>
            <a:off x="1639957" y="1457187"/>
            <a:ext cx="4885972" cy="1314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Definition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Measuring relatedness between words, sentences, or documents based on meaning.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5BF5F9-42C8-607E-6363-828D5EDB3504}"/>
              </a:ext>
            </a:extLst>
          </p:cNvPr>
          <p:cNvSpPr txBox="1">
            <a:spLocks/>
          </p:cNvSpPr>
          <p:nvPr/>
        </p:nvSpPr>
        <p:spPr>
          <a:xfrm>
            <a:off x="7135982" y="1457187"/>
            <a:ext cx="4885972" cy="1314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Applications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Search: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Improving relevance beyond keyword matching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Recommendations: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Suggesting related content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Duplicate detection: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Finding similar content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56F5658-7418-83B2-26C3-1BDCFBFAE84C}"/>
              </a:ext>
            </a:extLst>
          </p:cNvPr>
          <p:cNvSpPr txBox="1">
            <a:spLocks/>
          </p:cNvSpPr>
          <p:nvPr/>
        </p:nvSpPr>
        <p:spPr>
          <a:xfrm>
            <a:off x="1639957" y="4085925"/>
            <a:ext cx="4885972" cy="1207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Types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Word-level: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Similarity between individual words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Document-level: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Similarity between documents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52654EF-E942-F291-6A34-E6A51AF9271B}"/>
              </a:ext>
            </a:extLst>
          </p:cNvPr>
          <p:cNvSpPr txBox="1">
            <a:spLocks/>
          </p:cNvSpPr>
          <p:nvPr/>
        </p:nvSpPr>
        <p:spPr>
          <a:xfrm>
            <a:off x="7135982" y="4085925"/>
            <a:ext cx="4885972" cy="1207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Evaluation Metrics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Human judgment correlation: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Matching human expectations</a:t>
            </a:r>
          </a:p>
          <a:p>
            <a:r>
              <a:rPr lang="en-GB" sz="1400" b="1" dirty="0" err="1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Precision@k</a:t>
            </a: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Proportion of relevant results in top k</a:t>
            </a:r>
          </a:p>
        </p:txBody>
      </p:sp>
      <p:pic>
        <p:nvPicPr>
          <p:cNvPr id="3" name="Image 12" descr="preencoded.png">
            <a:extLst>
              <a:ext uri="{FF2B5EF4-FFF2-40B4-BE49-F238E27FC236}">
                <a16:creationId xmlns:a16="http://schemas.microsoft.com/office/drawing/2014/main" id="{31FCC961-FD3E-28C6-1F1A-193FD3298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515" y="2909674"/>
            <a:ext cx="8714882" cy="103865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7B328F-FE4C-E53A-562F-9C51B50E5B5D}"/>
              </a:ext>
            </a:extLst>
          </p:cNvPr>
          <p:cNvSpPr txBox="1">
            <a:spLocks/>
          </p:cNvSpPr>
          <p:nvPr/>
        </p:nvSpPr>
        <p:spPr>
          <a:xfrm>
            <a:off x="1639957" y="5293896"/>
            <a:ext cx="5039976" cy="1038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Implementation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Embedding vectors: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Comparing positions in vector space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Contextual similarity: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Using context-aware embeddings</a:t>
            </a:r>
          </a:p>
        </p:txBody>
      </p:sp>
    </p:spTree>
    <p:extLst>
      <p:ext uri="{BB962C8B-B14F-4D97-AF65-F5344CB8AC3E}">
        <p14:creationId xmlns:p14="http://schemas.microsoft.com/office/powerpoint/2010/main" val="3016942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6D58E-23C7-157A-7D04-0F54BF9A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7BDA-3AA2-BA31-2D3B-50C56D62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Similarity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89D292-3D99-176D-BC3B-11224D5A0DD2}"/>
              </a:ext>
            </a:extLst>
          </p:cNvPr>
          <p:cNvSpPr txBox="1">
            <a:spLocks/>
          </p:cNvSpPr>
          <p:nvPr/>
        </p:nvSpPr>
        <p:spPr>
          <a:xfrm>
            <a:off x="1639957" y="1457187"/>
            <a:ext cx="4885972" cy="14524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Definition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Measure of similarity between two non-zero vectors in an inner product space.</a:t>
            </a:r>
          </a:p>
          <a:p>
            <a:pPr marL="0" indent="0">
              <a:buNone/>
            </a:pPr>
            <a:endParaRPr lang="en-GB" sz="1400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It calculates the cosine of the angle between two vectors.</a:t>
            </a:r>
          </a:p>
          <a:p>
            <a:pPr marL="0" indent="0">
              <a:buNone/>
            </a:pPr>
            <a:endParaRPr lang="en-GB" sz="1400" dirty="0"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4BF5A1-D2F7-FC4D-6E7F-6619955185E9}"/>
              </a:ext>
            </a:extLst>
          </p:cNvPr>
          <p:cNvSpPr txBox="1">
            <a:spLocks/>
          </p:cNvSpPr>
          <p:nvPr/>
        </p:nvSpPr>
        <p:spPr>
          <a:xfrm>
            <a:off x="7135982" y="1457187"/>
            <a:ext cx="4885972" cy="1452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Visualization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5E6D027-6A45-EBB5-5B96-DD0CEE21FDFE}"/>
              </a:ext>
            </a:extLst>
          </p:cNvPr>
          <p:cNvSpPr txBox="1">
            <a:spLocks/>
          </p:cNvSpPr>
          <p:nvPr/>
        </p:nvSpPr>
        <p:spPr>
          <a:xfrm>
            <a:off x="1639956" y="3090947"/>
            <a:ext cx="4885972" cy="170966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9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Formula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cos(</a:t>
            </a:r>
            <a:r>
              <a:rPr lang="el-GR" sz="1600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θ) = (</a:t>
            </a:r>
            <a:r>
              <a:rPr lang="en-US" sz="1600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A·B)/(||A||·||B||)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ea typeface="Roboto" pitchFamily="34" charset="-122"/>
              <a:cs typeface="Arial" panose="020B0604020202020204" pitchFamily="34" charset="0"/>
            </a:endParaRPr>
          </a:p>
          <a:p>
            <a:r>
              <a:rPr lang="en-GB" sz="1600" i="1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A</a:t>
            </a:r>
            <a:r>
              <a:rPr lang="en-GB" sz="1600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·</a:t>
            </a:r>
            <a:r>
              <a:rPr lang="en-GB" sz="1600" i="1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B</a:t>
            </a:r>
            <a:r>
              <a:rPr lang="en-GB" sz="16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: Dot product of vectors A and B</a:t>
            </a:r>
          </a:p>
          <a:p>
            <a:r>
              <a:rPr lang="en-GB" sz="1600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||</a:t>
            </a:r>
            <a:r>
              <a:rPr lang="en-GB" sz="1600" i="1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A</a:t>
            </a:r>
            <a:r>
              <a:rPr lang="en-GB" sz="1600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||</a:t>
            </a:r>
            <a:r>
              <a:rPr lang="en-GB" sz="16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: Magnitude of vector A</a:t>
            </a:r>
          </a:p>
          <a:p>
            <a:r>
              <a:rPr lang="en-GB" sz="1600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||</a:t>
            </a:r>
            <a:r>
              <a:rPr lang="en-GB" sz="1600" b="1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B</a:t>
            </a:r>
            <a:r>
              <a:rPr lang="en-GB" sz="1600" dirty="0">
                <a:latin typeface="Consolas" panose="020B0609020204030204" pitchFamily="49" charset="0"/>
                <a:ea typeface="Roboto" pitchFamily="34" charset="-122"/>
                <a:cs typeface="Arial" panose="020B0604020202020204" pitchFamily="34" charset="0"/>
              </a:rPr>
              <a:t>||</a:t>
            </a:r>
            <a:r>
              <a:rPr lang="en-GB" sz="16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: Magnitude of vector B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3B8857-82EF-E928-11B0-0E69DE48770C}"/>
              </a:ext>
            </a:extLst>
          </p:cNvPr>
          <p:cNvSpPr txBox="1">
            <a:spLocks/>
          </p:cNvSpPr>
          <p:nvPr/>
        </p:nvSpPr>
        <p:spPr>
          <a:xfrm>
            <a:off x="7135982" y="3088105"/>
            <a:ext cx="4885972" cy="12079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Advantages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Normalized for vector length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Efficient computation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Focuses on orientation, not magnitude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03265A-4C5B-B3B3-27D5-5889C6BD8A2B}"/>
              </a:ext>
            </a:extLst>
          </p:cNvPr>
          <p:cNvSpPr txBox="1">
            <a:spLocks/>
          </p:cNvSpPr>
          <p:nvPr/>
        </p:nvSpPr>
        <p:spPr>
          <a:xfrm>
            <a:off x="1639956" y="4981890"/>
            <a:ext cx="5039976" cy="1291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Range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1: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Identical vectors (angle = 0°)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0: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Orthogonal vectors (angle = 90°)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-1: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Opposite vectors (angle = 180°)</a:t>
            </a:r>
          </a:p>
        </p:txBody>
      </p:sp>
      <p:pic>
        <p:nvPicPr>
          <p:cNvPr id="7" name="Image 11" descr="preencoded.png">
            <a:extLst>
              <a:ext uri="{FF2B5EF4-FFF2-40B4-BE49-F238E27FC236}">
                <a16:creationId xmlns:a16="http://schemas.microsoft.com/office/drawing/2014/main" id="{A3A73950-060E-1BA4-F7A3-6949B3A4A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982" y="1564105"/>
            <a:ext cx="4762500" cy="1524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E386E6D-CF07-8AEE-2571-8EC863C92E12}"/>
              </a:ext>
            </a:extLst>
          </p:cNvPr>
          <p:cNvSpPr txBox="1">
            <a:spLocks/>
          </p:cNvSpPr>
          <p:nvPr/>
        </p:nvSpPr>
        <p:spPr>
          <a:xfrm>
            <a:off x="7135982" y="4724709"/>
            <a:ext cx="4885972" cy="12079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Limitations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Doesn't account for magnitude differences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May not capture semantic nuances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Sensitive to high-dimensional sparse vectors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1B7B50-5004-E019-D02F-BA2E12905FCC}"/>
              </a:ext>
            </a:extLst>
          </p:cNvPr>
          <p:cNvSpPr/>
          <p:nvPr/>
        </p:nvSpPr>
        <p:spPr>
          <a:xfrm flipH="1">
            <a:off x="1643616" y="1451499"/>
            <a:ext cx="45719" cy="1382267"/>
          </a:xfrm>
          <a:prstGeom prst="roundRect">
            <a:avLst/>
          </a:prstGeom>
          <a:solidFill>
            <a:srgbClr val="15B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2B0380-852B-930A-DAC8-E930CD0B8B74}"/>
              </a:ext>
            </a:extLst>
          </p:cNvPr>
          <p:cNvSpPr/>
          <p:nvPr/>
        </p:nvSpPr>
        <p:spPr>
          <a:xfrm>
            <a:off x="1639956" y="3090948"/>
            <a:ext cx="45719" cy="170966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8169DB-17AD-4AF0-8616-8CF05E86A56B}"/>
              </a:ext>
            </a:extLst>
          </p:cNvPr>
          <p:cNvSpPr/>
          <p:nvPr/>
        </p:nvSpPr>
        <p:spPr>
          <a:xfrm>
            <a:off x="1639955" y="4981891"/>
            <a:ext cx="45719" cy="1291079"/>
          </a:xfrm>
          <a:prstGeom prst="roundRect">
            <a:avLst/>
          </a:prstGeom>
          <a:solidFill>
            <a:srgbClr val="23C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FF40582-F459-CCE2-86B9-09375EA0742F}"/>
              </a:ext>
            </a:extLst>
          </p:cNvPr>
          <p:cNvSpPr/>
          <p:nvPr/>
        </p:nvSpPr>
        <p:spPr>
          <a:xfrm>
            <a:off x="7135982" y="3092665"/>
            <a:ext cx="45719" cy="1203409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9FEB1B-667A-EF91-1099-44F5D1F3E82E}"/>
              </a:ext>
            </a:extLst>
          </p:cNvPr>
          <p:cNvSpPr/>
          <p:nvPr/>
        </p:nvSpPr>
        <p:spPr>
          <a:xfrm>
            <a:off x="7135981" y="4719021"/>
            <a:ext cx="45719" cy="1203409"/>
          </a:xfrm>
          <a:prstGeom prst="roundRect">
            <a:avLst/>
          </a:prstGeom>
          <a:solidFill>
            <a:srgbClr val="F05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60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9A5E9-58E0-E275-B3ED-53077A86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F6F0E-3A7A-4972-E421-553E7615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Space Model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29D369-79A6-8B31-2859-C768C8AD0567}"/>
              </a:ext>
            </a:extLst>
          </p:cNvPr>
          <p:cNvSpPr txBox="1">
            <a:spLocks/>
          </p:cNvSpPr>
          <p:nvPr/>
        </p:nvSpPr>
        <p:spPr>
          <a:xfrm>
            <a:off x="1639957" y="1457187"/>
            <a:ext cx="4885972" cy="1045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Definition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 mathematical model that represents text as points in multi-dimensional space, where each dimension corresponds to a term or feature.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BCD1A87-5C77-B06E-469E-2E1A68ECA8D4}"/>
              </a:ext>
            </a:extLst>
          </p:cNvPr>
          <p:cNvSpPr txBox="1">
            <a:spLocks/>
          </p:cNvSpPr>
          <p:nvPr/>
        </p:nvSpPr>
        <p:spPr>
          <a:xfrm>
            <a:off x="1639956" y="2821440"/>
            <a:ext cx="4885972" cy="1291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Document Representation</a:t>
            </a:r>
          </a:p>
          <a:p>
            <a:r>
              <a:rPr lang="en-US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Documents represented as vectors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Word vectors aggregated into document vectors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Similarity measured by distance between vectors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5F8F146-2A7C-F8C8-A859-5E6FD3BCE53B}"/>
              </a:ext>
            </a:extLst>
          </p:cNvPr>
          <p:cNvSpPr txBox="1">
            <a:spLocks/>
          </p:cNvSpPr>
          <p:nvPr/>
        </p:nvSpPr>
        <p:spPr>
          <a:xfrm>
            <a:off x="7135982" y="3429000"/>
            <a:ext cx="4885972" cy="315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Approaches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DE1E51-0835-8B6E-7158-8FF297184412}"/>
              </a:ext>
            </a:extLst>
          </p:cNvPr>
          <p:cNvSpPr txBox="1">
            <a:spLocks/>
          </p:cNvSpPr>
          <p:nvPr/>
        </p:nvSpPr>
        <p:spPr>
          <a:xfrm>
            <a:off x="1639956" y="4431393"/>
            <a:ext cx="5039976" cy="1291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Dimensionality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Trade-off between expressiveness and efficiency. Higher dimensions capture more nuances but require more computational resources.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F5B452-B575-7540-5CCD-0E670F495464}"/>
              </a:ext>
            </a:extLst>
          </p:cNvPr>
          <p:cNvSpPr txBox="1">
            <a:spLocks/>
          </p:cNvSpPr>
          <p:nvPr/>
        </p:nvSpPr>
        <p:spPr>
          <a:xfrm>
            <a:off x="7135982" y="5076933"/>
            <a:ext cx="4885972" cy="1207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Visualization Techniques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PCA for linear dimensionality reduction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t-SNE for non-linear visualization</a:t>
            </a:r>
          </a:p>
        </p:txBody>
      </p:sp>
      <p:pic>
        <p:nvPicPr>
          <p:cNvPr id="3" name="Image 9" descr="preencoded.png">
            <a:extLst>
              <a:ext uri="{FF2B5EF4-FFF2-40B4-BE49-F238E27FC236}">
                <a16:creationId xmlns:a16="http://schemas.microsoft.com/office/drawing/2014/main" id="{EE5DC333-CDCC-3AE1-76D8-5C762FB82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982" y="1457186"/>
            <a:ext cx="4153095" cy="204923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BBCA55-5B08-8FAD-FC58-93F85EA0CBA8}"/>
              </a:ext>
            </a:extLst>
          </p:cNvPr>
          <p:cNvSpPr txBox="1">
            <a:spLocks/>
          </p:cNvSpPr>
          <p:nvPr/>
        </p:nvSpPr>
        <p:spPr>
          <a:xfrm>
            <a:off x="7135982" y="3744227"/>
            <a:ext cx="2316026" cy="933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Traditional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Bag-of-words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TF-IDF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6ACB6E-D47A-BCC7-A69E-31CAED46009B}"/>
              </a:ext>
            </a:extLst>
          </p:cNvPr>
          <p:cNvSpPr txBox="1">
            <a:spLocks/>
          </p:cNvSpPr>
          <p:nvPr/>
        </p:nvSpPr>
        <p:spPr>
          <a:xfrm>
            <a:off x="9452008" y="3744226"/>
            <a:ext cx="2569946" cy="933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Modern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Dense embeddings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Contextual representations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A5C596-6B60-53BB-F8F1-C47D96E70DBF}"/>
              </a:ext>
            </a:extLst>
          </p:cNvPr>
          <p:cNvSpPr/>
          <p:nvPr/>
        </p:nvSpPr>
        <p:spPr>
          <a:xfrm>
            <a:off x="7135982" y="3744226"/>
            <a:ext cx="45719" cy="93365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8C5383-85B9-F5AC-5A39-66C1A9C6FCB6}"/>
              </a:ext>
            </a:extLst>
          </p:cNvPr>
          <p:cNvSpPr/>
          <p:nvPr/>
        </p:nvSpPr>
        <p:spPr>
          <a:xfrm>
            <a:off x="9452008" y="3744224"/>
            <a:ext cx="45719" cy="933649"/>
          </a:xfrm>
          <a:prstGeom prst="roundRect">
            <a:avLst/>
          </a:prstGeom>
          <a:solidFill>
            <a:srgbClr val="15B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33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6487-9421-A0F7-7E78-288F9C0C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46B9D-A683-6675-09D7-5D31EA55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Workflow</a:t>
            </a:r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5BB81FFD-A946-9571-DCE4-70BF4B179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09" y="1444644"/>
            <a:ext cx="9450634" cy="236265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A6695F3-B81C-F85F-3D52-E7CCBCC5F142}"/>
              </a:ext>
            </a:extLst>
          </p:cNvPr>
          <p:cNvGrpSpPr/>
          <p:nvPr/>
        </p:nvGrpSpPr>
        <p:grpSpPr>
          <a:xfrm>
            <a:off x="1639954" y="4004108"/>
            <a:ext cx="10462661" cy="2777948"/>
            <a:chOff x="1639954" y="4004108"/>
            <a:chExt cx="10462661" cy="2777948"/>
          </a:xfrm>
        </p:grpSpPr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FDEC0F0E-29E7-1DA0-1E97-E2924B82B1FC}"/>
                </a:ext>
              </a:extLst>
            </p:cNvPr>
            <p:cNvSpPr txBox="1">
              <a:spLocks/>
            </p:cNvSpPr>
            <p:nvPr/>
          </p:nvSpPr>
          <p:spPr>
            <a:xfrm>
              <a:off x="1639954" y="4004109"/>
              <a:ext cx="3336303" cy="85566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Data Collection</a:t>
              </a:r>
            </a:p>
            <a:p>
              <a:pPr marL="0" indent="0">
                <a:buNone/>
              </a:pPr>
              <a:r>
                <a:rPr lang="en-GB" sz="1400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Gathering relevant data from various sources.</a:t>
              </a:r>
            </a:p>
          </p:txBody>
        </p:sp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A92BE15E-87AB-10DD-4252-58550C751B7F}"/>
                </a:ext>
              </a:extLst>
            </p:cNvPr>
            <p:cNvSpPr txBox="1">
              <a:spLocks/>
            </p:cNvSpPr>
            <p:nvPr/>
          </p:nvSpPr>
          <p:spPr>
            <a:xfrm>
              <a:off x="5167615" y="4004108"/>
              <a:ext cx="3371821" cy="85566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Preprocessing</a:t>
              </a:r>
            </a:p>
            <a:p>
              <a:pPr marL="0" indent="0">
                <a:buNone/>
              </a:pPr>
              <a:r>
                <a:rPr lang="en-GB" sz="1400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Cleaning, normalization, and feature engineering.</a:t>
              </a:r>
            </a:p>
          </p:txBody>
        </p:sp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09868C3C-A036-C42E-38F0-354014DE6637}"/>
                </a:ext>
              </a:extLst>
            </p:cNvPr>
            <p:cNvSpPr txBox="1">
              <a:spLocks/>
            </p:cNvSpPr>
            <p:nvPr/>
          </p:nvSpPr>
          <p:spPr>
            <a:xfrm>
              <a:off x="8730794" y="4004108"/>
              <a:ext cx="3371821" cy="85566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Splitting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GB" sz="1400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Dividing data into training, validation, and test sets.</a:t>
              </a:r>
              <a:endParaRPr lang="en-US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8CDAC378-F867-A88E-C473-A84F485E52B6}"/>
                </a:ext>
              </a:extLst>
            </p:cNvPr>
            <p:cNvSpPr txBox="1">
              <a:spLocks/>
            </p:cNvSpPr>
            <p:nvPr/>
          </p:nvSpPr>
          <p:spPr>
            <a:xfrm>
              <a:off x="1639954" y="4965251"/>
              <a:ext cx="3336303" cy="85566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Model Selection</a:t>
              </a:r>
            </a:p>
            <a:p>
              <a:pPr marL="0" indent="0">
                <a:buNone/>
              </a:pPr>
              <a:r>
                <a:rPr lang="en-GB" sz="1400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Choosing appropriate algorithms for the problem.</a:t>
              </a:r>
            </a:p>
          </p:txBody>
        </p: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8656E401-2A76-1B57-38D9-3D7E76CC1750}"/>
                </a:ext>
              </a:extLst>
            </p:cNvPr>
            <p:cNvSpPr txBox="1">
              <a:spLocks/>
            </p:cNvSpPr>
            <p:nvPr/>
          </p:nvSpPr>
          <p:spPr>
            <a:xfrm>
              <a:off x="1639954" y="5926394"/>
              <a:ext cx="3336303" cy="85566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Evaluation</a:t>
              </a:r>
            </a:p>
            <a:p>
              <a:pPr marL="0" indent="0">
                <a:buNone/>
              </a:pPr>
              <a:r>
                <a:rPr lang="en-GB" sz="1400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Selecting metrics to evaluate model performance.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D48D16D8-0732-770A-B8EB-3965D2C2B0EA}"/>
                </a:ext>
              </a:extLst>
            </p:cNvPr>
            <p:cNvSpPr txBox="1">
              <a:spLocks/>
            </p:cNvSpPr>
            <p:nvPr/>
          </p:nvSpPr>
          <p:spPr>
            <a:xfrm>
              <a:off x="5167614" y="4965251"/>
              <a:ext cx="3371821" cy="85566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Training</a:t>
              </a:r>
            </a:p>
            <a:p>
              <a:pPr marL="0" indent="0">
                <a:buNone/>
              </a:pPr>
              <a:r>
                <a:rPr lang="en-GB" sz="1400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Optimizing model parameters on training data.</a:t>
              </a:r>
            </a:p>
          </p:txBody>
        </p: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FEE76528-04CA-543F-734F-33F36CDFF345}"/>
                </a:ext>
              </a:extLst>
            </p:cNvPr>
            <p:cNvSpPr txBox="1">
              <a:spLocks/>
            </p:cNvSpPr>
            <p:nvPr/>
          </p:nvSpPr>
          <p:spPr>
            <a:xfrm>
              <a:off x="5167614" y="5926394"/>
              <a:ext cx="3371821" cy="85566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Deployment</a:t>
              </a:r>
            </a:p>
            <a:p>
              <a:pPr marL="0" indent="0">
                <a:buNone/>
              </a:pPr>
              <a:r>
                <a:rPr lang="en-GB" sz="1400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Serving models in production environments.</a:t>
              </a:r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75B7F7C3-45DE-8C75-731D-EF5251B80934}"/>
                </a:ext>
              </a:extLst>
            </p:cNvPr>
            <p:cNvSpPr txBox="1">
              <a:spLocks/>
            </p:cNvSpPr>
            <p:nvPr/>
          </p:nvSpPr>
          <p:spPr>
            <a:xfrm>
              <a:off x="8730792" y="4965251"/>
              <a:ext cx="3371821" cy="85566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Hyperparameter Tuning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GB" sz="1400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Optimizing model parameters using various methods.</a:t>
              </a:r>
            </a:p>
          </p:txBody>
        </p:sp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3E48FFFF-B884-29B3-41F0-3D5B280164C0}"/>
                </a:ext>
              </a:extLst>
            </p:cNvPr>
            <p:cNvSpPr txBox="1">
              <a:spLocks/>
            </p:cNvSpPr>
            <p:nvPr/>
          </p:nvSpPr>
          <p:spPr>
            <a:xfrm>
              <a:off x="8730791" y="5923626"/>
              <a:ext cx="3371821" cy="85566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1"/>
                  </a:solidFill>
                  <a:latin typeface="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Monitoring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GB" sz="1400" dirty="0">
                  <a:latin typeface="Arial" panose="020B0604020202020204" pitchFamily="34" charset="0"/>
                  <a:ea typeface="Roboto" pitchFamily="34" charset="-122"/>
                  <a:cs typeface="Arial" panose="020B0604020202020204" pitchFamily="34" charset="0"/>
                </a:rPr>
                <a:t>Tracking performance and detecting concept drift.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DDBBF53-0320-4EF3-7831-BDC6DD3D3227}"/>
                </a:ext>
              </a:extLst>
            </p:cNvPr>
            <p:cNvSpPr/>
            <p:nvPr/>
          </p:nvSpPr>
          <p:spPr>
            <a:xfrm>
              <a:off x="1639954" y="4004108"/>
              <a:ext cx="45719" cy="855662"/>
            </a:xfrm>
            <a:prstGeom prst="round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2C5AF10-6EF7-F3AA-B428-FF7045F2D36F}"/>
                </a:ext>
              </a:extLst>
            </p:cNvPr>
            <p:cNvSpPr/>
            <p:nvPr/>
          </p:nvSpPr>
          <p:spPr>
            <a:xfrm>
              <a:off x="1639954" y="4965250"/>
              <a:ext cx="45719" cy="855662"/>
            </a:xfrm>
            <a:prstGeom prst="roundRect">
              <a:avLst/>
            </a:prstGeom>
            <a:solidFill>
              <a:srgbClr val="EFBE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2227255-6211-BFFA-A956-339F6DE795F1}"/>
                </a:ext>
              </a:extLst>
            </p:cNvPr>
            <p:cNvSpPr/>
            <p:nvPr/>
          </p:nvSpPr>
          <p:spPr>
            <a:xfrm>
              <a:off x="1639954" y="5923626"/>
              <a:ext cx="45719" cy="855662"/>
            </a:xfrm>
            <a:prstGeom prst="roundRect">
              <a:avLst/>
            </a:prstGeom>
            <a:solidFill>
              <a:srgbClr val="15BF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6A3155F-60E5-8CFD-2BEA-9F0E9C38E7ED}"/>
                </a:ext>
              </a:extLst>
            </p:cNvPr>
            <p:cNvSpPr/>
            <p:nvPr/>
          </p:nvSpPr>
          <p:spPr>
            <a:xfrm>
              <a:off x="5167615" y="4004108"/>
              <a:ext cx="45719" cy="855662"/>
            </a:xfrm>
            <a:prstGeom prst="roundRect">
              <a:avLst/>
            </a:prstGeom>
            <a:solidFill>
              <a:srgbClr val="A855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5763EE1-2033-54E7-766B-300AE8BBF166}"/>
                </a:ext>
              </a:extLst>
            </p:cNvPr>
            <p:cNvSpPr/>
            <p:nvPr/>
          </p:nvSpPr>
          <p:spPr>
            <a:xfrm>
              <a:off x="5167614" y="4965250"/>
              <a:ext cx="45719" cy="855662"/>
            </a:xfrm>
            <a:prstGeom prst="roundRect">
              <a:avLst/>
            </a:prstGeom>
            <a:solidFill>
              <a:srgbClr val="F05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58BE90E-FFDF-FFC6-9BA5-155C4CEBD100}"/>
                </a:ext>
              </a:extLst>
            </p:cNvPr>
            <p:cNvSpPr/>
            <p:nvPr/>
          </p:nvSpPr>
          <p:spPr>
            <a:xfrm>
              <a:off x="5167612" y="5923626"/>
              <a:ext cx="45719" cy="855662"/>
            </a:xfrm>
            <a:prstGeom prst="roundRect">
              <a:avLst/>
            </a:prstGeom>
            <a:solidFill>
              <a:srgbClr val="F973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5508C7C-9DF4-6AAF-A849-EC6EEA2AC4BA}"/>
                </a:ext>
              </a:extLst>
            </p:cNvPr>
            <p:cNvSpPr/>
            <p:nvPr/>
          </p:nvSpPr>
          <p:spPr>
            <a:xfrm>
              <a:off x="8730791" y="4004108"/>
              <a:ext cx="45719" cy="855662"/>
            </a:xfrm>
            <a:prstGeom prst="roundRect">
              <a:avLst/>
            </a:prstGeom>
            <a:solidFill>
              <a:srgbClr val="23CB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1F5DA55-C5F6-9C37-C0DD-D5F37CC4010A}"/>
                </a:ext>
              </a:extLst>
            </p:cNvPr>
            <p:cNvSpPr/>
            <p:nvPr/>
          </p:nvSpPr>
          <p:spPr>
            <a:xfrm>
              <a:off x="8730791" y="4965250"/>
              <a:ext cx="45720" cy="855662"/>
            </a:xfrm>
            <a:prstGeom prst="roundRect">
              <a:avLst/>
            </a:prstGeom>
            <a:solidFill>
              <a:srgbClr val="6A6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22AC320-AD20-57C7-61DB-1AB7DBC16460}"/>
                </a:ext>
              </a:extLst>
            </p:cNvPr>
            <p:cNvSpPr/>
            <p:nvPr/>
          </p:nvSpPr>
          <p:spPr>
            <a:xfrm>
              <a:off x="8730789" y="5923625"/>
              <a:ext cx="45719" cy="855662"/>
            </a:xfrm>
            <a:prstGeom prst="roundRect">
              <a:avLst/>
            </a:prstGeom>
            <a:solidFill>
              <a:srgbClr val="F64B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0088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453AB-CD92-E866-B3A9-A2F0B26DA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8BFE-32F4-6616-09E6-DFE88DCB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vs Regression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21A4C4-3B8A-E10F-3230-3F0ECADD3A2F}"/>
              </a:ext>
            </a:extLst>
          </p:cNvPr>
          <p:cNvSpPr txBox="1">
            <a:spLocks/>
          </p:cNvSpPr>
          <p:nvPr/>
        </p:nvSpPr>
        <p:spPr>
          <a:xfrm>
            <a:off x="1639957" y="1457186"/>
            <a:ext cx="4885972" cy="35757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Classification</a:t>
            </a: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Definition: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Predicting discrete categories</a:t>
            </a: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Types: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Binary: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Two classes (spam/not spam)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Multi-class: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Multiple exclusive classes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Multi-label: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Multiple non-exclusive classes</a:t>
            </a: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Metrics: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Accuracy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Precision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Recall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F1-score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AUC-ROC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C53CA5-6B0C-AF2F-B385-7D9A1482C0F9}"/>
              </a:ext>
            </a:extLst>
          </p:cNvPr>
          <p:cNvSpPr txBox="1">
            <a:spLocks/>
          </p:cNvSpPr>
          <p:nvPr/>
        </p:nvSpPr>
        <p:spPr>
          <a:xfrm>
            <a:off x="7135982" y="1457187"/>
            <a:ext cx="4885972" cy="33265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Regression</a:t>
            </a: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Definition: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Predicting continuous numerical values</a:t>
            </a: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Types: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Linear: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Straight-line relationships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Polynomial: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Curved relationships</a:t>
            </a:r>
          </a:p>
          <a:p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Logistic: </a:t>
            </a: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S-shaped curves</a:t>
            </a:r>
          </a:p>
          <a:p>
            <a:pPr marL="0" indent="0">
              <a:buNone/>
            </a:pPr>
            <a:r>
              <a:rPr lang="en-GB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Metrics: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MSE (Mean Squared Error)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MAE (Mean Absolute Error)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R-squared</a:t>
            </a:r>
          </a:p>
          <a:p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RMSE (Root Mean Squared Error)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CABED4D-C791-CEF9-9714-7E0CB007B4DD}"/>
              </a:ext>
            </a:extLst>
          </p:cNvPr>
          <p:cNvSpPr txBox="1">
            <a:spLocks/>
          </p:cNvSpPr>
          <p:nvPr/>
        </p:nvSpPr>
        <p:spPr>
          <a:xfrm>
            <a:off x="7113122" y="5139890"/>
            <a:ext cx="4885972" cy="33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Key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CE654-5454-D5D2-E044-9C43B1FA1ED6}"/>
              </a:ext>
            </a:extLst>
          </p:cNvPr>
          <p:cNvSpPr txBox="1">
            <a:spLocks/>
          </p:cNvSpPr>
          <p:nvPr/>
        </p:nvSpPr>
        <p:spPr>
          <a:xfrm>
            <a:off x="1639957" y="5139890"/>
            <a:ext cx="5038218" cy="33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Visualization</a:t>
            </a:r>
          </a:p>
        </p:txBody>
      </p:sp>
      <p:pic>
        <p:nvPicPr>
          <p:cNvPr id="6" name="Image 7" descr="preencoded.png">
            <a:extLst>
              <a:ext uri="{FF2B5EF4-FFF2-40B4-BE49-F238E27FC236}">
                <a16:creationId xmlns:a16="http://schemas.microsoft.com/office/drawing/2014/main" id="{ED8E52A2-614C-C6D7-C2DD-CCD3274E6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956" y="5476776"/>
            <a:ext cx="5038219" cy="12897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100330-5276-12F2-58DB-0E2273784EFB}"/>
              </a:ext>
            </a:extLst>
          </p:cNvPr>
          <p:cNvSpPr txBox="1">
            <a:spLocks/>
          </p:cNvSpPr>
          <p:nvPr/>
        </p:nvSpPr>
        <p:spPr>
          <a:xfrm>
            <a:off x="7135982" y="5476776"/>
            <a:ext cx="1334250" cy="1376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Difference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Output Type</a:t>
            </a:r>
          </a:p>
          <a:p>
            <a:pPr marL="0" indent="0">
              <a:buNone/>
            </a:pPr>
            <a:r>
              <a:rPr lang="en-US" sz="1400" dirty="0">
                <a:ea typeface="ui-sans-serif" pitchFamily="34" charset="-122"/>
                <a:cs typeface="ui-sans-serif" pitchFamily="34" charset="-120"/>
              </a:rPr>
              <a:t>Evaluation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Loss Function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9325EA-7227-E078-6CBE-A2B7167EBC86}"/>
              </a:ext>
            </a:extLst>
          </p:cNvPr>
          <p:cNvSpPr txBox="1">
            <a:spLocks/>
          </p:cNvSpPr>
          <p:nvPr/>
        </p:nvSpPr>
        <p:spPr>
          <a:xfrm>
            <a:off x="8525228" y="5476775"/>
            <a:ext cx="1720865" cy="1376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Classification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Discrete categories</a:t>
            </a:r>
          </a:p>
          <a:p>
            <a:pPr marL="0" indent="0">
              <a:buNone/>
            </a:pPr>
            <a:r>
              <a:rPr lang="en-US" sz="1400" dirty="0">
                <a:ea typeface="ui-sans-serif" pitchFamily="34" charset="-122"/>
                <a:cs typeface="ui-sans-serif" pitchFamily="34" charset="-120"/>
              </a:rPr>
              <a:t>Accuracy, precision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Log-loss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806BC8-4F34-1060-CC47-419968CD0BCC}"/>
              </a:ext>
            </a:extLst>
          </p:cNvPr>
          <p:cNvSpPr txBox="1">
            <a:spLocks/>
          </p:cNvSpPr>
          <p:nvPr/>
        </p:nvSpPr>
        <p:spPr>
          <a:xfrm>
            <a:off x="10301089" y="5476774"/>
            <a:ext cx="1720865" cy="1376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Regression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Continuous values</a:t>
            </a:r>
          </a:p>
          <a:p>
            <a:pPr marL="0" indent="0">
              <a:buNone/>
            </a:pPr>
            <a:r>
              <a:rPr lang="en-US" sz="1400" dirty="0">
                <a:ea typeface="ui-sans-serif" pitchFamily="34" charset="-122"/>
                <a:cs typeface="ui-sans-serif" pitchFamily="34" charset="-120"/>
              </a:rPr>
              <a:t>MSE, MAE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Squared error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A9632C-46A3-65A0-64EB-2940CE481E1F}"/>
              </a:ext>
            </a:extLst>
          </p:cNvPr>
          <p:cNvSpPr/>
          <p:nvPr/>
        </p:nvSpPr>
        <p:spPr>
          <a:xfrm>
            <a:off x="1639955" y="1457185"/>
            <a:ext cx="45719" cy="3575785"/>
          </a:xfrm>
          <a:prstGeom prst="roundRect">
            <a:avLst/>
          </a:prstGeom>
          <a:solidFill>
            <a:srgbClr val="F05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2B5B0C8-01C6-F465-BDC6-9B025012799B}"/>
              </a:ext>
            </a:extLst>
          </p:cNvPr>
          <p:cNvSpPr/>
          <p:nvPr/>
        </p:nvSpPr>
        <p:spPr>
          <a:xfrm>
            <a:off x="7113122" y="1457185"/>
            <a:ext cx="45719" cy="3326570"/>
          </a:xfrm>
          <a:prstGeom prst="roundRect">
            <a:avLst/>
          </a:prstGeom>
          <a:solidFill>
            <a:srgbClr val="23C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962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UC new palett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21650"/>
      </a:accent1>
      <a:accent2>
        <a:srgbClr val="2F75FA"/>
      </a:accent2>
      <a:accent3>
        <a:srgbClr val="02BE95"/>
      </a:accent3>
      <a:accent4>
        <a:srgbClr val="FED748"/>
      </a:accent4>
      <a:accent5>
        <a:srgbClr val="C7D9FE"/>
      </a:accent5>
      <a:accent6>
        <a:srgbClr val="FFE586"/>
      </a:accent6>
      <a:hlink>
        <a:srgbClr val="B6DED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0E3B6A3-BF54-4423-A820-A7AAA4777020}">
  <we:reference id="wa200010725" version="1.0.0.1" store="en-US" storeType="omex"/>
  <we:alternateReferences>
    <we:reference id="wa200010725" version="1.0.0.1" store="omex" storeType="omex"/>
  </we:alternateReferences>
  <we:properties>
    <we:property name="claude.fileId" value="&quot;791b6d8d-f1fe-4fa5-8bc7-5beed5bdc17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F207C898297143AE7155F7E89B2CE8" ma:contentTypeVersion="16" ma:contentTypeDescription="Create a new document." ma:contentTypeScope="" ma:versionID="f52b850860d9ff6d47103fd9cc567b7a">
  <xsd:schema xmlns:xsd="http://www.w3.org/2001/XMLSchema" xmlns:xs="http://www.w3.org/2001/XMLSchema" xmlns:p="http://schemas.microsoft.com/office/2006/metadata/properties" xmlns:ns3="1b45eedb-0585-4574-9ce8-7d672054f74b" xmlns:ns4="f22256a2-15a3-43ae-a6d6-b0abb5bd50b9" targetNamespace="http://schemas.microsoft.com/office/2006/metadata/properties" ma:root="true" ma:fieldsID="27ebef35ead7f9c329133b3e623d5291" ns3:_="" ns4:_="">
    <xsd:import namespace="1b45eedb-0585-4574-9ce8-7d672054f74b"/>
    <xsd:import namespace="f22256a2-15a3-43ae-a6d6-b0abb5bd50b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5eedb-0585-4574-9ce8-7d672054f7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2256a2-15a3-43ae-a6d6-b0abb5bd50b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b45eedb-0585-4574-9ce8-7d672054f74b" xsi:nil="true"/>
  </documentManagement>
</p:properties>
</file>

<file path=customXml/itemProps1.xml><?xml version="1.0" encoding="utf-8"?>
<ds:datastoreItem xmlns:ds="http://schemas.openxmlformats.org/officeDocument/2006/customXml" ds:itemID="{32F70F49-56DA-4068-ADBD-1F6E57D920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EA3D9E-8551-46E1-9902-24DBE0C487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45eedb-0585-4574-9ce8-7d672054f74b"/>
    <ds:schemaRef ds:uri="f22256a2-15a3-43ae-a6d6-b0abb5bd50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133D7EF-973E-4F62-9874-1F7974AD0CBD}">
  <ds:schemaRefs>
    <ds:schemaRef ds:uri="http://purl.org/dc/terms/"/>
    <ds:schemaRef ds:uri="http://schemas.microsoft.com/office/2006/documentManagement/types"/>
    <ds:schemaRef ds:uri="1b45eedb-0585-4574-9ce8-7d672054f74b"/>
    <ds:schemaRef ds:uri="http://purl.org/dc/elements/1.1/"/>
    <ds:schemaRef ds:uri="f22256a2-15a3-43ae-a6d6-b0abb5bd50b9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11804</TotalTime>
  <Words>1138</Words>
  <Application>Microsoft Office PowerPoint</Application>
  <PresentationFormat>Widescreen</PresentationFormat>
  <Paragraphs>258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Custom Design</vt:lpstr>
      <vt:lpstr>AI and Machine Learning Foundations</vt:lpstr>
      <vt:lpstr>Python's Role in AI Systems</vt:lpstr>
      <vt:lpstr>Java to Python Transfer</vt:lpstr>
      <vt:lpstr>Python Dataclasses for Plain Data</vt:lpstr>
      <vt:lpstr>Type Hints as a Design Tool</vt:lpstr>
      <vt:lpstr>Pydantic v2: Structured Data Validation</vt:lpstr>
      <vt:lpstr>uv: Modern Python Package Manager</vt:lpstr>
      <vt:lpstr>AI vs ML vs Deep Learning</vt:lpstr>
      <vt:lpstr>Supervised vs Unsupervised Learning</vt:lpstr>
      <vt:lpstr>Neural Networks Basics</vt:lpstr>
      <vt:lpstr>NLP Fundamentals</vt:lpstr>
      <vt:lpstr>Tokenization</vt:lpstr>
      <vt:lpstr>Word Embeddings (Word2Vec, GloVe)</vt:lpstr>
      <vt:lpstr>Semantic Similarity</vt:lpstr>
      <vt:lpstr>Cosine Similarity</vt:lpstr>
      <vt:lpstr>Vector Space Model</vt:lpstr>
      <vt:lpstr>ML Workflow</vt:lpstr>
      <vt:lpstr>Classification vs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Yabut</dc:creator>
  <cp:lastModifiedBy>Janet Fernando</cp:lastModifiedBy>
  <cp:revision>125</cp:revision>
  <dcterms:created xsi:type="dcterms:W3CDTF">2025-04-16T16:04:01Z</dcterms:created>
  <dcterms:modified xsi:type="dcterms:W3CDTF">2026-05-13T09:41:42Z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0x0101008AF207C898297143AE7155F7E89B2CE8</vt:lpwstr>
  </property>
</Properties>
</file>